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7" r:id="rId3"/>
    <p:sldId id="259" r:id="rId4"/>
    <p:sldId id="258" r:id="rId5"/>
    <p:sldId id="256" r:id="rId6"/>
    <p:sldId id="278" r:id="rId7"/>
    <p:sldId id="261" r:id="rId8"/>
    <p:sldId id="265" r:id="rId9"/>
    <p:sldId id="266" r:id="rId10"/>
    <p:sldId id="279" r:id="rId11"/>
    <p:sldId id="275" r:id="rId12"/>
    <p:sldId id="268" r:id="rId13"/>
    <p:sldId id="272" r:id="rId14"/>
    <p:sldId id="269" r:id="rId15"/>
    <p:sldId id="271" r:id="rId16"/>
    <p:sldId id="263" r:id="rId17"/>
    <p:sldId id="27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21EE9-67DD-597B-9FFA-946EA45B0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8BA5F57-1975-47BB-4429-CA6B3728D9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10D1700-2552-0638-3276-03C9C42C35D1}"/>
              </a:ext>
            </a:extLst>
          </p:cNvPr>
          <p:cNvSpPr>
            <a:spLocks noGrp="1"/>
          </p:cNvSpPr>
          <p:nvPr>
            <p:ph type="dt" sz="half" idx="10"/>
          </p:nvPr>
        </p:nvSpPr>
        <p:spPr/>
        <p:txBody>
          <a:bodyPr/>
          <a:lstStyle/>
          <a:p>
            <a:fld id="{8071CBD9-E3C0-462E-B6AB-4025DB68776E}" type="datetimeFigureOut">
              <a:rPr lang="en-IN" smtClean="0"/>
              <a:t>06-12-2025</a:t>
            </a:fld>
            <a:endParaRPr lang="en-IN"/>
          </a:p>
        </p:txBody>
      </p:sp>
      <p:sp>
        <p:nvSpPr>
          <p:cNvPr id="5" name="Footer Placeholder 4">
            <a:extLst>
              <a:ext uri="{FF2B5EF4-FFF2-40B4-BE49-F238E27FC236}">
                <a16:creationId xmlns:a16="http://schemas.microsoft.com/office/drawing/2014/main" id="{204125C3-4E0C-CE1B-2351-F43EBD5C36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F2A448-C733-64CA-61A4-9C070F6FE2DC}"/>
              </a:ext>
            </a:extLst>
          </p:cNvPr>
          <p:cNvSpPr>
            <a:spLocks noGrp="1"/>
          </p:cNvSpPr>
          <p:nvPr>
            <p:ph type="sldNum" sz="quarter" idx="12"/>
          </p:nvPr>
        </p:nvSpPr>
        <p:spPr/>
        <p:txBody>
          <a:bodyPr/>
          <a:lstStyle/>
          <a:p>
            <a:fld id="{70C5AAF1-8F73-4139-8014-45DB71A7E480}" type="slidenum">
              <a:rPr lang="en-IN" smtClean="0"/>
              <a:t>‹#›</a:t>
            </a:fld>
            <a:endParaRPr lang="en-IN"/>
          </a:p>
        </p:txBody>
      </p:sp>
    </p:spTree>
    <p:extLst>
      <p:ext uri="{BB962C8B-B14F-4D97-AF65-F5344CB8AC3E}">
        <p14:creationId xmlns:p14="http://schemas.microsoft.com/office/powerpoint/2010/main" val="1443793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4FA48-6840-1A5F-790D-8EA8DF1F12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15668F-7D3B-7511-FDA9-7BABA3D24F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0BDA42-BCD3-D873-F5DF-5B39C496A5C4}"/>
              </a:ext>
            </a:extLst>
          </p:cNvPr>
          <p:cNvSpPr>
            <a:spLocks noGrp="1"/>
          </p:cNvSpPr>
          <p:nvPr>
            <p:ph type="dt" sz="half" idx="10"/>
          </p:nvPr>
        </p:nvSpPr>
        <p:spPr/>
        <p:txBody>
          <a:bodyPr/>
          <a:lstStyle/>
          <a:p>
            <a:fld id="{8071CBD9-E3C0-462E-B6AB-4025DB68776E}" type="datetimeFigureOut">
              <a:rPr lang="en-IN" smtClean="0"/>
              <a:t>06-12-2025</a:t>
            </a:fld>
            <a:endParaRPr lang="en-IN"/>
          </a:p>
        </p:txBody>
      </p:sp>
      <p:sp>
        <p:nvSpPr>
          <p:cNvPr id="5" name="Footer Placeholder 4">
            <a:extLst>
              <a:ext uri="{FF2B5EF4-FFF2-40B4-BE49-F238E27FC236}">
                <a16:creationId xmlns:a16="http://schemas.microsoft.com/office/drawing/2014/main" id="{47C1E70E-5F74-9EED-9EDC-710649150D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CB7A08-47DF-BC4E-ED2C-7319F29CE568}"/>
              </a:ext>
            </a:extLst>
          </p:cNvPr>
          <p:cNvSpPr>
            <a:spLocks noGrp="1"/>
          </p:cNvSpPr>
          <p:nvPr>
            <p:ph type="sldNum" sz="quarter" idx="12"/>
          </p:nvPr>
        </p:nvSpPr>
        <p:spPr/>
        <p:txBody>
          <a:bodyPr/>
          <a:lstStyle/>
          <a:p>
            <a:fld id="{70C5AAF1-8F73-4139-8014-45DB71A7E480}" type="slidenum">
              <a:rPr lang="en-IN" smtClean="0"/>
              <a:t>‹#›</a:t>
            </a:fld>
            <a:endParaRPr lang="en-IN"/>
          </a:p>
        </p:txBody>
      </p:sp>
    </p:spTree>
    <p:extLst>
      <p:ext uri="{BB962C8B-B14F-4D97-AF65-F5344CB8AC3E}">
        <p14:creationId xmlns:p14="http://schemas.microsoft.com/office/powerpoint/2010/main" val="3478247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3B50C-405C-B89E-679E-8A6C6875DA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096A855-0B69-E17C-BF72-911C91D414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04E9C8-BEFB-1E42-1595-730085313F68}"/>
              </a:ext>
            </a:extLst>
          </p:cNvPr>
          <p:cNvSpPr>
            <a:spLocks noGrp="1"/>
          </p:cNvSpPr>
          <p:nvPr>
            <p:ph type="dt" sz="half" idx="10"/>
          </p:nvPr>
        </p:nvSpPr>
        <p:spPr/>
        <p:txBody>
          <a:bodyPr/>
          <a:lstStyle/>
          <a:p>
            <a:fld id="{8071CBD9-E3C0-462E-B6AB-4025DB68776E}" type="datetimeFigureOut">
              <a:rPr lang="en-IN" smtClean="0"/>
              <a:t>06-12-2025</a:t>
            </a:fld>
            <a:endParaRPr lang="en-IN"/>
          </a:p>
        </p:txBody>
      </p:sp>
      <p:sp>
        <p:nvSpPr>
          <p:cNvPr id="5" name="Footer Placeholder 4">
            <a:extLst>
              <a:ext uri="{FF2B5EF4-FFF2-40B4-BE49-F238E27FC236}">
                <a16:creationId xmlns:a16="http://schemas.microsoft.com/office/drawing/2014/main" id="{95A07382-3E0C-0E23-2519-C641A9889E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ABD6DA-2CB2-9AB9-9A03-07DDAFCFD104}"/>
              </a:ext>
            </a:extLst>
          </p:cNvPr>
          <p:cNvSpPr>
            <a:spLocks noGrp="1"/>
          </p:cNvSpPr>
          <p:nvPr>
            <p:ph type="sldNum" sz="quarter" idx="12"/>
          </p:nvPr>
        </p:nvSpPr>
        <p:spPr/>
        <p:txBody>
          <a:bodyPr/>
          <a:lstStyle/>
          <a:p>
            <a:fld id="{70C5AAF1-8F73-4139-8014-45DB71A7E480}" type="slidenum">
              <a:rPr lang="en-IN" smtClean="0"/>
              <a:t>‹#›</a:t>
            </a:fld>
            <a:endParaRPr lang="en-IN"/>
          </a:p>
        </p:txBody>
      </p:sp>
    </p:spTree>
    <p:extLst>
      <p:ext uri="{BB962C8B-B14F-4D97-AF65-F5344CB8AC3E}">
        <p14:creationId xmlns:p14="http://schemas.microsoft.com/office/powerpoint/2010/main" val="1270135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5A341-3B41-5D64-6054-54D7B31B0F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0348DC-ACA6-CF3B-E958-063C16D464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EAB98E1-8E59-F88A-8A74-AF27C1528A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BFCB10C-DB88-C738-D57D-4166CEB0C517}"/>
              </a:ext>
            </a:extLst>
          </p:cNvPr>
          <p:cNvSpPr>
            <a:spLocks noGrp="1"/>
          </p:cNvSpPr>
          <p:nvPr>
            <p:ph type="dt" sz="half" idx="10"/>
          </p:nvPr>
        </p:nvSpPr>
        <p:spPr/>
        <p:txBody>
          <a:bodyPr/>
          <a:lstStyle/>
          <a:p>
            <a:fld id="{8071CBD9-E3C0-462E-B6AB-4025DB68776E}" type="datetimeFigureOut">
              <a:rPr lang="en-IN" smtClean="0"/>
              <a:t>06-12-2025</a:t>
            </a:fld>
            <a:endParaRPr lang="en-IN"/>
          </a:p>
        </p:txBody>
      </p:sp>
      <p:sp>
        <p:nvSpPr>
          <p:cNvPr id="6" name="Footer Placeholder 5">
            <a:extLst>
              <a:ext uri="{FF2B5EF4-FFF2-40B4-BE49-F238E27FC236}">
                <a16:creationId xmlns:a16="http://schemas.microsoft.com/office/drawing/2014/main" id="{48FAB05C-69E3-AB70-ACF6-CE66176255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E4611F-EF4A-5944-54B2-5002523E4CDC}"/>
              </a:ext>
            </a:extLst>
          </p:cNvPr>
          <p:cNvSpPr>
            <a:spLocks noGrp="1"/>
          </p:cNvSpPr>
          <p:nvPr>
            <p:ph type="sldNum" sz="quarter" idx="12"/>
          </p:nvPr>
        </p:nvSpPr>
        <p:spPr/>
        <p:txBody>
          <a:bodyPr/>
          <a:lstStyle/>
          <a:p>
            <a:fld id="{70C5AAF1-8F73-4139-8014-45DB71A7E480}" type="slidenum">
              <a:rPr lang="en-IN" smtClean="0"/>
              <a:t>‹#›</a:t>
            </a:fld>
            <a:endParaRPr lang="en-IN"/>
          </a:p>
        </p:txBody>
      </p:sp>
    </p:spTree>
    <p:extLst>
      <p:ext uri="{BB962C8B-B14F-4D97-AF65-F5344CB8AC3E}">
        <p14:creationId xmlns:p14="http://schemas.microsoft.com/office/powerpoint/2010/main" val="2464965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28487-D8F2-DBB4-0D60-CEE600F3042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135665-83CB-CB0E-09DC-06CB956B2F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0B46C1-3D77-9DFC-7F26-379741148C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9EBA90-E6A2-D5CB-FB1F-DC8ECDD9C9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E9F907-1291-0571-FD25-CD23CDB5A0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122A18-ABAD-6369-8CD1-9D3C9A9C3805}"/>
              </a:ext>
            </a:extLst>
          </p:cNvPr>
          <p:cNvSpPr>
            <a:spLocks noGrp="1"/>
          </p:cNvSpPr>
          <p:nvPr>
            <p:ph type="dt" sz="half" idx="10"/>
          </p:nvPr>
        </p:nvSpPr>
        <p:spPr/>
        <p:txBody>
          <a:bodyPr/>
          <a:lstStyle/>
          <a:p>
            <a:fld id="{8071CBD9-E3C0-462E-B6AB-4025DB68776E}" type="datetimeFigureOut">
              <a:rPr lang="en-IN" smtClean="0"/>
              <a:t>06-12-2025</a:t>
            </a:fld>
            <a:endParaRPr lang="en-IN"/>
          </a:p>
        </p:txBody>
      </p:sp>
      <p:sp>
        <p:nvSpPr>
          <p:cNvPr id="8" name="Footer Placeholder 7">
            <a:extLst>
              <a:ext uri="{FF2B5EF4-FFF2-40B4-BE49-F238E27FC236}">
                <a16:creationId xmlns:a16="http://schemas.microsoft.com/office/drawing/2014/main" id="{6712C7A1-C5E4-92F3-DE72-275A828D88E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E5D9C13-2547-475B-8119-6D965A51924D}"/>
              </a:ext>
            </a:extLst>
          </p:cNvPr>
          <p:cNvSpPr>
            <a:spLocks noGrp="1"/>
          </p:cNvSpPr>
          <p:nvPr>
            <p:ph type="sldNum" sz="quarter" idx="12"/>
          </p:nvPr>
        </p:nvSpPr>
        <p:spPr/>
        <p:txBody>
          <a:bodyPr/>
          <a:lstStyle/>
          <a:p>
            <a:fld id="{70C5AAF1-8F73-4139-8014-45DB71A7E480}" type="slidenum">
              <a:rPr lang="en-IN" smtClean="0"/>
              <a:t>‹#›</a:t>
            </a:fld>
            <a:endParaRPr lang="en-IN"/>
          </a:p>
        </p:txBody>
      </p:sp>
    </p:spTree>
    <p:extLst>
      <p:ext uri="{BB962C8B-B14F-4D97-AF65-F5344CB8AC3E}">
        <p14:creationId xmlns:p14="http://schemas.microsoft.com/office/powerpoint/2010/main" val="828723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F92BF-2E10-1BC1-DF0F-C737FEAABFD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DA6333E-BD0F-DEB9-F442-8614A9B28305}"/>
              </a:ext>
            </a:extLst>
          </p:cNvPr>
          <p:cNvSpPr>
            <a:spLocks noGrp="1"/>
          </p:cNvSpPr>
          <p:nvPr>
            <p:ph type="dt" sz="half" idx="10"/>
          </p:nvPr>
        </p:nvSpPr>
        <p:spPr/>
        <p:txBody>
          <a:bodyPr/>
          <a:lstStyle/>
          <a:p>
            <a:fld id="{8071CBD9-E3C0-462E-B6AB-4025DB68776E}" type="datetimeFigureOut">
              <a:rPr lang="en-IN" smtClean="0"/>
              <a:t>06-12-2025</a:t>
            </a:fld>
            <a:endParaRPr lang="en-IN"/>
          </a:p>
        </p:txBody>
      </p:sp>
      <p:sp>
        <p:nvSpPr>
          <p:cNvPr id="4" name="Footer Placeholder 3">
            <a:extLst>
              <a:ext uri="{FF2B5EF4-FFF2-40B4-BE49-F238E27FC236}">
                <a16:creationId xmlns:a16="http://schemas.microsoft.com/office/drawing/2014/main" id="{C9A3785A-79F6-644F-0573-377E0128D11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52E3D04-8A90-3257-A923-CDA7C88E857C}"/>
              </a:ext>
            </a:extLst>
          </p:cNvPr>
          <p:cNvSpPr>
            <a:spLocks noGrp="1"/>
          </p:cNvSpPr>
          <p:nvPr>
            <p:ph type="sldNum" sz="quarter" idx="12"/>
          </p:nvPr>
        </p:nvSpPr>
        <p:spPr/>
        <p:txBody>
          <a:bodyPr/>
          <a:lstStyle/>
          <a:p>
            <a:fld id="{70C5AAF1-8F73-4139-8014-45DB71A7E480}" type="slidenum">
              <a:rPr lang="en-IN" smtClean="0"/>
              <a:t>‹#›</a:t>
            </a:fld>
            <a:endParaRPr lang="en-IN"/>
          </a:p>
        </p:txBody>
      </p:sp>
    </p:spTree>
    <p:extLst>
      <p:ext uri="{BB962C8B-B14F-4D97-AF65-F5344CB8AC3E}">
        <p14:creationId xmlns:p14="http://schemas.microsoft.com/office/powerpoint/2010/main" val="1146897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6DA5A0-F59A-7980-72E6-AD2BD352AB26}"/>
              </a:ext>
            </a:extLst>
          </p:cNvPr>
          <p:cNvSpPr>
            <a:spLocks noGrp="1"/>
          </p:cNvSpPr>
          <p:nvPr>
            <p:ph type="dt" sz="half" idx="10"/>
          </p:nvPr>
        </p:nvSpPr>
        <p:spPr/>
        <p:txBody>
          <a:bodyPr/>
          <a:lstStyle/>
          <a:p>
            <a:fld id="{8071CBD9-E3C0-462E-B6AB-4025DB68776E}" type="datetimeFigureOut">
              <a:rPr lang="en-IN" smtClean="0"/>
              <a:t>06-12-2025</a:t>
            </a:fld>
            <a:endParaRPr lang="en-IN"/>
          </a:p>
        </p:txBody>
      </p:sp>
      <p:sp>
        <p:nvSpPr>
          <p:cNvPr id="3" name="Footer Placeholder 2">
            <a:extLst>
              <a:ext uri="{FF2B5EF4-FFF2-40B4-BE49-F238E27FC236}">
                <a16:creationId xmlns:a16="http://schemas.microsoft.com/office/drawing/2014/main" id="{B1201205-2FC8-D6E3-64A2-6B1590FD091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07F2DE6-3B52-181E-5091-9EBC9D34842D}"/>
              </a:ext>
            </a:extLst>
          </p:cNvPr>
          <p:cNvSpPr>
            <a:spLocks noGrp="1"/>
          </p:cNvSpPr>
          <p:nvPr>
            <p:ph type="sldNum" sz="quarter" idx="12"/>
          </p:nvPr>
        </p:nvSpPr>
        <p:spPr/>
        <p:txBody>
          <a:bodyPr/>
          <a:lstStyle/>
          <a:p>
            <a:fld id="{70C5AAF1-8F73-4139-8014-45DB71A7E480}" type="slidenum">
              <a:rPr lang="en-IN" smtClean="0"/>
              <a:t>‹#›</a:t>
            </a:fld>
            <a:endParaRPr lang="en-IN"/>
          </a:p>
        </p:txBody>
      </p:sp>
    </p:spTree>
    <p:extLst>
      <p:ext uri="{BB962C8B-B14F-4D97-AF65-F5344CB8AC3E}">
        <p14:creationId xmlns:p14="http://schemas.microsoft.com/office/powerpoint/2010/main" val="3736083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F19BC-49F9-5DB5-F9DF-D87449466A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6F6E74D-09A6-DC94-981E-A8735F1C10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303EA12-62BE-0961-79F0-79FA3CB818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520475-934B-7F50-D614-BD5A75100CFD}"/>
              </a:ext>
            </a:extLst>
          </p:cNvPr>
          <p:cNvSpPr>
            <a:spLocks noGrp="1"/>
          </p:cNvSpPr>
          <p:nvPr>
            <p:ph type="dt" sz="half" idx="10"/>
          </p:nvPr>
        </p:nvSpPr>
        <p:spPr/>
        <p:txBody>
          <a:bodyPr/>
          <a:lstStyle/>
          <a:p>
            <a:fld id="{8071CBD9-E3C0-462E-B6AB-4025DB68776E}" type="datetimeFigureOut">
              <a:rPr lang="en-IN" smtClean="0"/>
              <a:t>06-12-2025</a:t>
            </a:fld>
            <a:endParaRPr lang="en-IN"/>
          </a:p>
        </p:txBody>
      </p:sp>
      <p:sp>
        <p:nvSpPr>
          <p:cNvPr id="6" name="Footer Placeholder 5">
            <a:extLst>
              <a:ext uri="{FF2B5EF4-FFF2-40B4-BE49-F238E27FC236}">
                <a16:creationId xmlns:a16="http://schemas.microsoft.com/office/drawing/2014/main" id="{3CCE73EA-9152-C4A2-36F2-DA46651400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84F9F0-B485-1C1D-87E2-60E0C2927E57}"/>
              </a:ext>
            </a:extLst>
          </p:cNvPr>
          <p:cNvSpPr>
            <a:spLocks noGrp="1"/>
          </p:cNvSpPr>
          <p:nvPr>
            <p:ph type="sldNum" sz="quarter" idx="12"/>
          </p:nvPr>
        </p:nvSpPr>
        <p:spPr/>
        <p:txBody>
          <a:bodyPr/>
          <a:lstStyle/>
          <a:p>
            <a:fld id="{70C5AAF1-8F73-4139-8014-45DB71A7E480}" type="slidenum">
              <a:rPr lang="en-IN" smtClean="0"/>
              <a:t>‹#›</a:t>
            </a:fld>
            <a:endParaRPr lang="en-IN"/>
          </a:p>
        </p:txBody>
      </p:sp>
    </p:spTree>
    <p:extLst>
      <p:ext uri="{BB962C8B-B14F-4D97-AF65-F5344CB8AC3E}">
        <p14:creationId xmlns:p14="http://schemas.microsoft.com/office/powerpoint/2010/main" val="1090576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5F3E9-E195-FC3E-4840-7350A8D45D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89DC6E0-5A37-7D03-389D-DEAF67A0BF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863086E-DBC6-4481-208F-91FA7BD515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5094F-2C7C-AB07-80BE-7411DF5E9177}"/>
              </a:ext>
            </a:extLst>
          </p:cNvPr>
          <p:cNvSpPr>
            <a:spLocks noGrp="1"/>
          </p:cNvSpPr>
          <p:nvPr>
            <p:ph type="dt" sz="half" idx="10"/>
          </p:nvPr>
        </p:nvSpPr>
        <p:spPr/>
        <p:txBody>
          <a:bodyPr/>
          <a:lstStyle/>
          <a:p>
            <a:fld id="{8071CBD9-E3C0-462E-B6AB-4025DB68776E}" type="datetimeFigureOut">
              <a:rPr lang="en-IN" smtClean="0"/>
              <a:t>06-12-2025</a:t>
            </a:fld>
            <a:endParaRPr lang="en-IN"/>
          </a:p>
        </p:txBody>
      </p:sp>
      <p:sp>
        <p:nvSpPr>
          <p:cNvPr id="6" name="Footer Placeholder 5">
            <a:extLst>
              <a:ext uri="{FF2B5EF4-FFF2-40B4-BE49-F238E27FC236}">
                <a16:creationId xmlns:a16="http://schemas.microsoft.com/office/drawing/2014/main" id="{A6A4B154-3A93-8922-40BE-993C7EAC2A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06236B-7C62-9D3A-03ED-F15252E0CAB9}"/>
              </a:ext>
            </a:extLst>
          </p:cNvPr>
          <p:cNvSpPr>
            <a:spLocks noGrp="1"/>
          </p:cNvSpPr>
          <p:nvPr>
            <p:ph type="sldNum" sz="quarter" idx="12"/>
          </p:nvPr>
        </p:nvSpPr>
        <p:spPr/>
        <p:txBody>
          <a:bodyPr/>
          <a:lstStyle/>
          <a:p>
            <a:fld id="{70C5AAF1-8F73-4139-8014-45DB71A7E480}" type="slidenum">
              <a:rPr lang="en-IN" smtClean="0"/>
              <a:t>‹#›</a:t>
            </a:fld>
            <a:endParaRPr lang="en-IN"/>
          </a:p>
        </p:txBody>
      </p:sp>
    </p:spTree>
    <p:extLst>
      <p:ext uri="{BB962C8B-B14F-4D97-AF65-F5344CB8AC3E}">
        <p14:creationId xmlns:p14="http://schemas.microsoft.com/office/powerpoint/2010/main" val="2710946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F0303-8DF6-826E-5553-F0C055BBBFB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FEB979-70D3-6A7F-9A6B-FA89D1BD70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1D8D1C-EA89-1D1D-9AA4-B8861F1BF06C}"/>
              </a:ext>
            </a:extLst>
          </p:cNvPr>
          <p:cNvSpPr>
            <a:spLocks noGrp="1"/>
          </p:cNvSpPr>
          <p:nvPr>
            <p:ph type="dt" sz="half" idx="10"/>
          </p:nvPr>
        </p:nvSpPr>
        <p:spPr/>
        <p:txBody>
          <a:bodyPr/>
          <a:lstStyle/>
          <a:p>
            <a:fld id="{8071CBD9-E3C0-462E-B6AB-4025DB68776E}" type="datetimeFigureOut">
              <a:rPr lang="en-IN" smtClean="0"/>
              <a:t>06-12-2025</a:t>
            </a:fld>
            <a:endParaRPr lang="en-IN"/>
          </a:p>
        </p:txBody>
      </p:sp>
      <p:sp>
        <p:nvSpPr>
          <p:cNvPr id="5" name="Footer Placeholder 4">
            <a:extLst>
              <a:ext uri="{FF2B5EF4-FFF2-40B4-BE49-F238E27FC236}">
                <a16:creationId xmlns:a16="http://schemas.microsoft.com/office/drawing/2014/main" id="{C73A8331-80AC-3083-6694-503E45F29A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AA4446-2A9B-A271-DF9A-C4A994272086}"/>
              </a:ext>
            </a:extLst>
          </p:cNvPr>
          <p:cNvSpPr>
            <a:spLocks noGrp="1"/>
          </p:cNvSpPr>
          <p:nvPr>
            <p:ph type="sldNum" sz="quarter" idx="12"/>
          </p:nvPr>
        </p:nvSpPr>
        <p:spPr/>
        <p:txBody>
          <a:bodyPr/>
          <a:lstStyle/>
          <a:p>
            <a:fld id="{70C5AAF1-8F73-4139-8014-45DB71A7E480}" type="slidenum">
              <a:rPr lang="en-IN" smtClean="0"/>
              <a:t>‹#›</a:t>
            </a:fld>
            <a:endParaRPr lang="en-IN"/>
          </a:p>
        </p:txBody>
      </p:sp>
    </p:spTree>
    <p:extLst>
      <p:ext uri="{BB962C8B-B14F-4D97-AF65-F5344CB8AC3E}">
        <p14:creationId xmlns:p14="http://schemas.microsoft.com/office/powerpoint/2010/main" val="2977165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D7D5B4-A397-DFE0-2664-9CDFC81EF3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E30C46-7750-3771-35CC-D027BEABCF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C745AB-C323-F6BE-C2A8-4284A5C14F67}"/>
              </a:ext>
            </a:extLst>
          </p:cNvPr>
          <p:cNvSpPr>
            <a:spLocks noGrp="1"/>
          </p:cNvSpPr>
          <p:nvPr>
            <p:ph type="dt" sz="half" idx="10"/>
          </p:nvPr>
        </p:nvSpPr>
        <p:spPr/>
        <p:txBody>
          <a:bodyPr/>
          <a:lstStyle/>
          <a:p>
            <a:fld id="{8071CBD9-E3C0-462E-B6AB-4025DB68776E}" type="datetimeFigureOut">
              <a:rPr lang="en-IN" smtClean="0"/>
              <a:t>06-12-2025</a:t>
            </a:fld>
            <a:endParaRPr lang="en-IN"/>
          </a:p>
        </p:txBody>
      </p:sp>
      <p:sp>
        <p:nvSpPr>
          <p:cNvPr id="5" name="Footer Placeholder 4">
            <a:extLst>
              <a:ext uri="{FF2B5EF4-FFF2-40B4-BE49-F238E27FC236}">
                <a16:creationId xmlns:a16="http://schemas.microsoft.com/office/drawing/2014/main" id="{8E893BBC-1D36-4AF3-9A1C-685DBD9508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C46ABE-86EC-F075-0D72-B17986AEE860}"/>
              </a:ext>
            </a:extLst>
          </p:cNvPr>
          <p:cNvSpPr>
            <a:spLocks noGrp="1"/>
          </p:cNvSpPr>
          <p:nvPr>
            <p:ph type="sldNum" sz="quarter" idx="12"/>
          </p:nvPr>
        </p:nvSpPr>
        <p:spPr/>
        <p:txBody>
          <a:bodyPr/>
          <a:lstStyle/>
          <a:p>
            <a:fld id="{70C5AAF1-8F73-4139-8014-45DB71A7E480}" type="slidenum">
              <a:rPr lang="en-IN" smtClean="0"/>
              <a:t>‹#›</a:t>
            </a:fld>
            <a:endParaRPr lang="en-IN"/>
          </a:p>
        </p:txBody>
      </p:sp>
    </p:spTree>
    <p:extLst>
      <p:ext uri="{BB962C8B-B14F-4D97-AF65-F5344CB8AC3E}">
        <p14:creationId xmlns:p14="http://schemas.microsoft.com/office/powerpoint/2010/main" val="3565456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6905B9-2957-7A91-136C-FAF64F33AD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235523-27A7-BDAC-8C4C-27C9B35620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E2FC30-A36F-B682-9B15-17074EB097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71CBD9-E3C0-462E-B6AB-4025DB68776E}" type="datetimeFigureOut">
              <a:rPr lang="en-IN" smtClean="0"/>
              <a:t>06-12-2025</a:t>
            </a:fld>
            <a:endParaRPr lang="en-IN"/>
          </a:p>
        </p:txBody>
      </p:sp>
      <p:sp>
        <p:nvSpPr>
          <p:cNvPr id="5" name="Footer Placeholder 4">
            <a:extLst>
              <a:ext uri="{FF2B5EF4-FFF2-40B4-BE49-F238E27FC236}">
                <a16:creationId xmlns:a16="http://schemas.microsoft.com/office/drawing/2014/main" id="{A0C1776E-8996-D17D-AF1C-3D3253258C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E9DDA10-F768-1B48-0E6B-64B79A6E6D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C5AAF1-8F73-4139-8014-45DB71A7E480}" type="slidenum">
              <a:rPr lang="en-IN" smtClean="0"/>
              <a:t>‹#›</a:t>
            </a:fld>
            <a:endParaRPr lang="en-IN"/>
          </a:p>
        </p:txBody>
      </p:sp>
    </p:spTree>
    <p:extLst>
      <p:ext uri="{BB962C8B-B14F-4D97-AF65-F5344CB8AC3E}">
        <p14:creationId xmlns:p14="http://schemas.microsoft.com/office/powerpoint/2010/main" val="11312650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0DAE89-E80D-A3E8-AA47-7E772A194C42}"/>
              </a:ext>
            </a:extLst>
          </p:cNvPr>
          <p:cNvSpPr txBox="1"/>
          <p:nvPr/>
        </p:nvSpPr>
        <p:spPr>
          <a:xfrm>
            <a:off x="267469" y="558330"/>
            <a:ext cx="11657041" cy="769441"/>
          </a:xfrm>
          <a:prstGeom prst="rect">
            <a:avLst/>
          </a:prstGeom>
          <a:noFill/>
        </p:spPr>
        <p:txBody>
          <a:bodyPr wrap="square">
            <a:spAutoFit/>
          </a:bodyPr>
          <a:lstStyle/>
          <a:p>
            <a:pPr algn="ctr"/>
            <a:r>
              <a:rPr lang="en-US" altLang="en-US" sz="2200" b="1" dirty="0">
                <a:latin typeface="Times New Roman" panose="02020603050405020304" charset="0"/>
                <a:cs typeface="Times New Roman" panose="02020603050405020304" charset="0"/>
              </a:rPr>
              <a:t> TASTEHUB: A CROSS-PLATFORM FOOD ORDERING SYSTEM USING MERN AND REACT NATIVE</a:t>
            </a:r>
          </a:p>
        </p:txBody>
      </p:sp>
      <p:pic>
        <p:nvPicPr>
          <p:cNvPr id="5" name="Picture 4">
            <a:extLst>
              <a:ext uri="{FF2B5EF4-FFF2-40B4-BE49-F238E27FC236}">
                <a16:creationId xmlns:a16="http://schemas.microsoft.com/office/drawing/2014/main" id="{C599BF46-DC7D-6081-FFEE-D7622C7D07DE}"/>
              </a:ext>
            </a:extLst>
          </p:cNvPr>
          <p:cNvPicPr>
            <a:picLocks noChangeAspect="1"/>
          </p:cNvPicPr>
          <p:nvPr/>
        </p:nvPicPr>
        <p:blipFill>
          <a:blip r:embed="rId2"/>
          <a:stretch>
            <a:fillRect/>
          </a:stretch>
        </p:blipFill>
        <p:spPr>
          <a:xfrm>
            <a:off x="5357689" y="1379605"/>
            <a:ext cx="1337619" cy="1222774"/>
          </a:xfrm>
          <a:prstGeom prst="rect">
            <a:avLst/>
          </a:prstGeom>
        </p:spPr>
      </p:pic>
      <p:sp>
        <p:nvSpPr>
          <p:cNvPr id="6" name="TextBox 5">
            <a:extLst>
              <a:ext uri="{FF2B5EF4-FFF2-40B4-BE49-F238E27FC236}">
                <a16:creationId xmlns:a16="http://schemas.microsoft.com/office/drawing/2014/main" id="{D48C4255-F459-A093-7599-2CF62EDAB09D}"/>
              </a:ext>
            </a:extLst>
          </p:cNvPr>
          <p:cNvSpPr txBox="1"/>
          <p:nvPr/>
        </p:nvSpPr>
        <p:spPr>
          <a:xfrm>
            <a:off x="2502215" y="2781334"/>
            <a:ext cx="7187553" cy="677108"/>
          </a:xfrm>
          <a:prstGeom prst="rect">
            <a:avLst/>
          </a:prstGeom>
          <a:noFill/>
        </p:spPr>
        <p:txBody>
          <a:bodyPr wrap="square">
            <a:spAutoFit/>
          </a:bodyPr>
          <a:lstStyle/>
          <a:p>
            <a:pPr algn="ctr"/>
            <a:r>
              <a:rPr lang="en-US" sz="2000" b="1" dirty="0">
                <a:solidFill>
                  <a:srgbClr val="000000"/>
                </a:solidFill>
                <a:latin typeface="Times New Roman" panose="02020603050405020304" charset="0"/>
                <a:ea typeface="Calibri" panose="020F0502020204030204" charset="0"/>
                <a:sym typeface="+mn-ea"/>
              </a:rPr>
              <a:t>Seshadri Rao Gudlavalleru Engineering College, Gudlavalleru</a:t>
            </a:r>
          </a:p>
          <a:p>
            <a:pPr algn="ctr"/>
            <a:r>
              <a:rPr lang="en-US" sz="1800" dirty="0">
                <a:solidFill>
                  <a:srgbClr val="000000"/>
                </a:solidFill>
                <a:latin typeface="Times New Roman" panose="02020603050405020304" charset="0"/>
                <a:ea typeface="Calibri" panose="020F0502020204030204" charset="0"/>
                <a:sym typeface="+mn-ea"/>
              </a:rPr>
              <a:t>Department of  Computer Science and Engineering</a:t>
            </a:r>
          </a:p>
        </p:txBody>
      </p:sp>
      <p:sp>
        <p:nvSpPr>
          <p:cNvPr id="7" name="Subtitle 2">
            <a:extLst>
              <a:ext uri="{FF2B5EF4-FFF2-40B4-BE49-F238E27FC236}">
                <a16:creationId xmlns:a16="http://schemas.microsoft.com/office/drawing/2014/main" id="{28CFE16E-ABD8-6542-C838-D28669342B21}"/>
              </a:ext>
            </a:extLst>
          </p:cNvPr>
          <p:cNvSpPr>
            <a:spLocks noGrp="1"/>
          </p:cNvSpPr>
          <p:nvPr/>
        </p:nvSpPr>
        <p:spPr>
          <a:xfrm>
            <a:off x="3898481" y="3562109"/>
            <a:ext cx="4395019" cy="191628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altLang="en-US" sz="1800" dirty="0">
                <a:latin typeface="Times New Roman" panose="02020603050405020304" charset="0"/>
                <a:cs typeface="Times New Roman" panose="02020603050405020304" charset="0"/>
              </a:rPr>
              <a:t>By</a:t>
            </a:r>
          </a:p>
          <a:p>
            <a:r>
              <a:rPr lang="en-US" sz="1800" dirty="0">
                <a:effectLst/>
                <a:latin typeface="Times New Roman" panose="02020603050405020304" pitchFamily="18" charset="0"/>
                <a:ea typeface="Calibri" panose="020F0502020204030204" pitchFamily="34" charset="0"/>
              </a:rPr>
              <a:t>T. </a:t>
            </a:r>
            <a:r>
              <a:rPr lang="en-US" sz="1800" dirty="0" err="1">
                <a:effectLst/>
                <a:latin typeface="Times New Roman" panose="02020603050405020304" pitchFamily="18" charset="0"/>
                <a:ea typeface="Calibri" panose="020F0502020204030204" pitchFamily="34" charset="0"/>
              </a:rPr>
              <a:t>Yasasvi</a:t>
            </a:r>
            <a:r>
              <a:rPr lang="en-US" sz="1800" dirty="0">
                <a:effectLst/>
                <a:latin typeface="Times New Roman" panose="02020603050405020304" pitchFamily="18" charset="0"/>
                <a:ea typeface="Calibri" panose="020F0502020204030204" pitchFamily="34" charset="0"/>
              </a:rPr>
              <a:t> Sai Sree</a:t>
            </a:r>
            <a:r>
              <a:rPr lang="en-US" sz="1800" dirty="0">
                <a:solidFill>
                  <a:srgbClr val="000000"/>
                </a:solidFill>
                <a:latin typeface="Times New Roman" panose="02020603050405020304" charset="0"/>
                <a:ea typeface="Calibri" panose="020F0502020204030204" charset="0"/>
                <a:sym typeface="+mn-ea"/>
              </a:rPr>
              <a:t>		</a:t>
            </a:r>
            <a:r>
              <a:rPr lang="en-IN" altLang="en-US" sz="1800" dirty="0">
                <a:solidFill>
                  <a:srgbClr val="000000"/>
                </a:solidFill>
                <a:effectLst/>
                <a:latin typeface="Times New Roman" panose="02020603050405020304" charset="0"/>
                <a:ea typeface="Calibri" panose="020F0502020204030204" charset="0"/>
                <a:sym typeface="+mn-ea"/>
              </a:rPr>
              <a:t>22481A05</a:t>
            </a:r>
            <a:r>
              <a:rPr lang="en-IN" altLang="en-US" sz="1800" dirty="0">
                <a:solidFill>
                  <a:srgbClr val="000000"/>
                </a:solidFill>
                <a:latin typeface="Times New Roman" panose="02020603050405020304" charset="0"/>
                <a:ea typeface="Calibri" panose="020F0502020204030204" charset="0"/>
                <a:sym typeface="+mn-ea"/>
              </a:rPr>
              <a:t>N3</a:t>
            </a:r>
            <a:endParaRPr lang="en-IN" altLang="en-US" sz="1800" dirty="0">
              <a:solidFill>
                <a:srgbClr val="000000"/>
              </a:solidFill>
              <a:effectLst/>
              <a:latin typeface="Times New Roman" panose="02020603050405020304" charset="0"/>
              <a:ea typeface="Calibri" panose="020F0502020204030204" charset="0"/>
              <a:sym typeface="+mn-ea"/>
            </a:endParaRPr>
          </a:p>
          <a:p>
            <a:r>
              <a:rPr lang="fi-FI" sz="1800" dirty="0">
                <a:effectLst/>
                <a:latin typeface="Times New Roman" panose="02020603050405020304" pitchFamily="18" charset="0"/>
                <a:ea typeface="Calibri" panose="020F0502020204030204" pitchFamily="34" charset="0"/>
              </a:rPr>
              <a:t>V. Srinu 			</a:t>
            </a:r>
            <a:r>
              <a:rPr lang="en-IN" altLang="en-US" sz="1800" dirty="0">
                <a:solidFill>
                  <a:srgbClr val="000000"/>
                </a:solidFill>
                <a:effectLst/>
                <a:latin typeface="Times New Roman" panose="02020603050405020304" charset="0"/>
                <a:ea typeface="Calibri" panose="020F0502020204030204" charset="0"/>
                <a:sym typeface="+mn-ea"/>
              </a:rPr>
              <a:t>22</a:t>
            </a:r>
            <a:r>
              <a:rPr lang="en-US" sz="1800" dirty="0">
                <a:solidFill>
                  <a:srgbClr val="000000"/>
                </a:solidFill>
                <a:effectLst/>
                <a:latin typeface="Times New Roman" panose="02020603050405020304" charset="0"/>
                <a:ea typeface="Calibri" panose="020F0502020204030204" charset="0"/>
                <a:sym typeface="+mn-ea"/>
              </a:rPr>
              <a:t>48</a:t>
            </a:r>
            <a:r>
              <a:rPr lang="en-IN" sz="1800" dirty="0">
                <a:solidFill>
                  <a:srgbClr val="000000"/>
                </a:solidFill>
                <a:latin typeface="Times New Roman" panose="02020603050405020304" charset="0"/>
                <a:ea typeface="Calibri" panose="020F0502020204030204" charset="0"/>
                <a:sym typeface="+mn-ea"/>
              </a:rPr>
              <a:t>1</a:t>
            </a:r>
            <a:r>
              <a:rPr lang="en-US" sz="1800" dirty="0">
                <a:solidFill>
                  <a:srgbClr val="000000"/>
                </a:solidFill>
                <a:effectLst/>
                <a:latin typeface="Times New Roman" panose="02020603050405020304" charset="0"/>
                <a:ea typeface="Calibri" panose="020F0502020204030204" charset="0"/>
                <a:sym typeface="+mn-ea"/>
              </a:rPr>
              <a:t>A05</a:t>
            </a:r>
            <a:r>
              <a:rPr lang="en-IN" sz="1800" dirty="0">
                <a:solidFill>
                  <a:srgbClr val="000000"/>
                </a:solidFill>
                <a:latin typeface="Times New Roman" panose="02020603050405020304" charset="0"/>
                <a:ea typeface="Calibri" panose="020F0502020204030204" charset="0"/>
                <a:sym typeface="+mn-ea"/>
              </a:rPr>
              <a:t>O0</a:t>
            </a:r>
            <a:endParaRPr lang="en-US" sz="1800" dirty="0">
              <a:solidFill>
                <a:srgbClr val="000000"/>
              </a:solidFill>
              <a:latin typeface="Times New Roman" panose="02020603050405020304" charset="0"/>
              <a:ea typeface="Calibri" panose="020F0502020204030204" charset="0"/>
              <a:sym typeface="+mn-ea"/>
            </a:endParaRPr>
          </a:p>
          <a:p>
            <a:r>
              <a:rPr lang="en-US" sz="1800" dirty="0">
                <a:effectLst/>
                <a:latin typeface="Times New Roman" panose="02020603050405020304" pitchFamily="18" charset="0"/>
                <a:ea typeface="Calibri" panose="020F0502020204030204" pitchFamily="34" charset="0"/>
              </a:rPr>
              <a:t>V. Vivek			</a:t>
            </a:r>
            <a:r>
              <a:rPr lang="en-US" sz="1800" dirty="0">
                <a:solidFill>
                  <a:srgbClr val="000000"/>
                </a:solidFill>
                <a:effectLst/>
                <a:latin typeface="Times New Roman" panose="02020603050405020304" charset="0"/>
                <a:ea typeface="Calibri" panose="020F0502020204030204" charset="0"/>
                <a:sym typeface="+mn-ea"/>
              </a:rPr>
              <a:t>2</a:t>
            </a:r>
            <a:r>
              <a:rPr lang="en-IN" altLang="en-US" sz="1800" dirty="0">
                <a:solidFill>
                  <a:srgbClr val="000000"/>
                </a:solidFill>
                <a:effectLst/>
                <a:latin typeface="Times New Roman" panose="02020603050405020304" charset="0"/>
                <a:ea typeface="Calibri" panose="020F0502020204030204" charset="0"/>
                <a:sym typeface="+mn-ea"/>
              </a:rPr>
              <a:t>2</a:t>
            </a:r>
            <a:r>
              <a:rPr lang="en-US" sz="1800" dirty="0">
                <a:solidFill>
                  <a:srgbClr val="000000"/>
                </a:solidFill>
                <a:effectLst/>
                <a:latin typeface="Times New Roman" panose="02020603050405020304" charset="0"/>
                <a:ea typeface="Calibri" panose="020F0502020204030204" charset="0"/>
                <a:sym typeface="+mn-ea"/>
              </a:rPr>
              <a:t>481A05</a:t>
            </a:r>
            <a:r>
              <a:rPr lang="en-IN" sz="1800" dirty="0">
                <a:solidFill>
                  <a:srgbClr val="000000"/>
                </a:solidFill>
                <a:effectLst/>
                <a:latin typeface="Times New Roman" panose="02020603050405020304" charset="0"/>
                <a:ea typeface="Calibri" panose="020F0502020204030204" charset="0"/>
                <a:sym typeface="+mn-ea"/>
              </a:rPr>
              <a:t>O6</a:t>
            </a:r>
            <a:endParaRPr lang="en-IN" sz="1800" dirty="0">
              <a:solidFill>
                <a:srgbClr val="000000"/>
              </a:solidFill>
              <a:latin typeface="Times New Roman" panose="02020603050405020304" charset="0"/>
              <a:ea typeface="Calibri" panose="020F0502020204030204" charset="0"/>
              <a:sym typeface="+mn-ea"/>
            </a:endParaRPr>
          </a:p>
          <a:p>
            <a:r>
              <a:rPr lang="en-IN" sz="1800" dirty="0">
                <a:solidFill>
                  <a:srgbClr val="000000"/>
                </a:solidFill>
                <a:latin typeface="Times New Roman" panose="02020603050405020304" charset="0"/>
                <a:ea typeface="Calibri" panose="020F0502020204030204" charset="0"/>
                <a:sym typeface="+mn-ea"/>
              </a:rPr>
              <a:t>P. Sowmya		22481A05K2</a:t>
            </a:r>
            <a:endParaRPr lang="en-IN" sz="1800" dirty="0">
              <a:solidFill>
                <a:srgbClr val="000000"/>
              </a:solidFill>
              <a:effectLst/>
              <a:latin typeface="Times New Roman" panose="02020603050405020304" charset="0"/>
              <a:ea typeface="Calibri" panose="020F0502020204030204" charset="0"/>
              <a:sym typeface="+mn-ea"/>
            </a:endParaRPr>
          </a:p>
        </p:txBody>
      </p:sp>
      <p:sp>
        <p:nvSpPr>
          <p:cNvPr id="8" name="TextBox 7">
            <a:extLst>
              <a:ext uri="{FF2B5EF4-FFF2-40B4-BE49-F238E27FC236}">
                <a16:creationId xmlns:a16="http://schemas.microsoft.com/office/drawing/2014/main" id="{C44B7EEC-EB3E-EBC7-2445-A0F13AF387FF}"/>
              </a:ext>
            </a:extLst>
          </p:cNvPr>
          <p:cNvSpPr txBox="1"/>
          <p:nvPr/>
        </p:nvSpPr>
        <p:spPr>
          <a:xfrm>
            <a:off x="3898483" y="5582062"/>
            <a:ext cx="4580662" cy="923330"/>
          </a:xfrm>
          <a:prstGeom prst="rect">
            <a:avLst/>
          </a:prstGeom>
          <a:noFill/>
        </p:spPr>
        <p:txBody>
          <a:bodyPr wrap="square">
            <a:spAutoFit/>
          </a:bodyPr>
          <a:lstStyle/>
          <a:p>
            <a:pPr algn="ctr"/>
            <a:r>
              <a:rPr lang="en-US" altLang="en-US" sz="1800" dirty="0">
                <a:latin typeface="Times New Roman" panose="02020603050405020304" charset="0"/>
                <a:cs typeface="Times New Roman" panose="02020603050405020304" charset="0"/>
                <a:sym typeface="+mn-ea"/>
              </a:rPr>
              <a:t>Under the guidance of</a:t>
            </a:r>
            <a:endParaRPr lang="en-US" altLang="en-US" sz="1800" dirty="0">
              <a:solidFill>
                <a:schemeClr val="tx1"/>
              </a:solidFill>
              <a:latin typeface="Times New Roman" panose="02020603050405020304" charset="0"/>
              <a:cs typeface="Times New Roman" panose="02020603050405020304" charset="0"/>
            </a:endParaRPr>
          </a:p>
          <a:p>
            <a:pPr algn="ctr"/>
            <a:r>
              <a:rPr lang="en-IN" sz="1800" b="1" dirty="0">
                <a:effectLst/>
                <a:latin typeface="Times New Roman" panose="02020603050405020304" charset="0"/>
                <a:ea typeface="Times New Roman" panose="02020603050405020304" charset="0"/>
                <a:cs typeface="Times New Roman" panose="02020603050405020304" charset="0"/>
                <a:sym typeface="+mn-ea"/>
              </a:rPr>
              <a:t>Mr. M. N. Satish Kumar</a:t>
            </a:r>
            <a:r>
              <a:rPr lang="en-US" sz="1800" b="1" dirty="0">
                <a:solidFill>
                  <a:srgbClr val="000000"/>
                </a:solidFill>
                <a:effectLst/>
                <a:latin typeface="Times New Roman" panose="02020603050405020304" charset="0"/>
                <a:ea typeface="Times New Roman" panose="02020603050405020304" charset="0"/>
                <a:sym typeface="+mn-ea"/>
              </a:rPr>
              <a:t>, M</a:t>
            </a:r>
            <a:r>
              <a:rPr lang="en-IN" altLang="en-US" sz="1800" b="1" dirty="0">
                <a:solidFill>
                  <a:srgbClr val="000000"/>
                </a:solidFill>
                <a:effectLst/>
                <a:latin typeface="Times New Roman" panose="02020603050405020304" charset="0"/>
                <a:ea typeface="Times New Roman" panose="02020603050405020304" charset="0"/>
                <a:sym typeface="+mn-ea"/>
              </a:rPr>
              <a:t>.Tech</a:t>
            </a:r>
            <a:r>
              <a:rPr lang="en-US" altLang="en-US" b="1" dirty="0">
                <a:solidFill>
                  <a:srgbClr val="000000"/>
                </a:solidFill>
                <a:latin typeface="Times New Roman" panose="02020603050405020304" charset="0"/>
                <a:ea typeface="Times New Roman" panose="02020603050405020304" charset="0"/>
                <a:sym typeface="+mn-ea"/>
              </a:rPr>
              <a:t> (</a:t>
            </a:r>
            <a:r>
              <a:rPr lang="en-US" sz="1800" b="1" dirty="0">
                <a:solidFill>
                  <a:srgbClr val="000000"/>
                </a:solidFill>
                <a:effectLst/>
                <a:latin typeface="Times New Roman" panose="02020603050405020304" charset="0"/>
                <a:ea typeface="Times New Roman" panose="02020603050405020304" charset="0"/>
                <a:sym typeface="+mn-ea"/>
              </a:rPr>
              <a:t>PhD)</a:t>
            </a:r>
            <a:endParaRPr lang="en-US" sz="1800" b="1" dirty="0">
              <a:solidFill>
                <a:srgbClr val="000000"/>
              </a:solidFill>
              <a:effectLst/>
              <a:latin typeface="Times New Roman" panose="02020603050405020304" charset="0"/>
              <a:ea typeface="Times New Roman" panose="02020603050405020304" charset="0"/>
            </a:endParaRPr>
          </a:p>
          <a:p>
            <a:pPr algn="ctr"/>
            <a:r>
              <a:rPr lang="en-GB" dirty="0">
                <a:solidFill>
                  <a:srgbClr val="000000"/>
                </a:solidFill>
                <a:latin typeface="Times New Roman" panose="02020603050405020304" pitchFamily="18" charset="0"/>
                <a:cs typeface="Times New Roman" panose="02020603050405020304" pitchFamily="18" charset="0"/>
              </a:rPr>
              <a:t>Assistant </a:t>
            </a:r>
            <a:r>
              <a:rPr lang="en-GB" sz="1800" dirty="0">
                <a:solidFill>
                  <a:srgbClr val="000000"/>
                </a:solidFill>
                <a:latin typeface="Times New Roman" panose="02020603050405020304" charset="0"/>
                <a:cs typeface="Times New Roman" panose="02020603050405020304" charset="0"/>
                <a:sym typeface="+mn-ea"/>
              </a:rPr>
              <a:t>Professor</a:t>
            </a:r>
            <a:r>
              <a:rPr lang="en-GB" sz="1800" dirty="0">
                <a:solidFill>
                  <a:srgbClr val="000000"/>
                </a:solidFill>
                <a:effectLst/>
                <a:latin typeface="Times New Roman" panose="02020603050405020304" charset="0"/>
                <a:ea typeface="Times New Roman" panose="02020603050405020304" charset="0"/>
                <a:cs typeface="Times New Roman" panose="02020603050405020304" charset="0"/>
                <a:sym typeface="+mn-ea"/>
              </a:rPr>
              <a:t>, </a:t>
            </a:r>
            <a:r>
              <a:rPr lang="en-GB" sz="1800" dirty="0">
                <a:solidFill>
                  <a:srgbClr val="000000"/>
                </a:solidFill>
                <a:effectLst/>
                <a:latin typeface="Times New Roman" panose="02020603050405020304" charset="0"/>
                <a:ea typeface="MS Mincho" panose="02020609040205080304" pitchFamily="49" charset="-128"/>
                <a:cs typeface="Times New Roman" panose="02020603050405020304" charset="0"/>
                <a:sym typeface="+mn-ea"/>
              </a:rPr>
              <a:t>Department of CSE</a:t>
            </a:r>
            <a:endParaRPr lang="en-IN" altLang="en-US" sz="1800" dirty="0">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190834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6AEA1F-AAE7-9DF4-1158-2B75729EC41C}"/>
              </a:ext>
            </a:extLst>
          </p:cNvPr>
          <p:cNvSpPr txBox="1"/>
          <p:nvPr/>
        </p:nvSpPr>
        <p:spPr>
          <a:xfrm>
            <a:off x="1578980" y="906645"/>
            <a:ext cx="8734062" cy="830997"/>
          </a:xfrm>
          <a:prstGeom prst="rect">
            <a:avLst/>
          </a:prstGeom>
          <a:noFill/>
        </p:spPr>
        <p:txBody>
          <a:bodyPr wrap="square">
            <a:spAutoFit/>
          </a:bodyPr>
          <a:lstStyle/>
          <a:p>
            <a:pPr algn="ctr"/>
            <a:r>
              <a:rPr lang="en-US" altLang="en-US" sz="2400" b="1" dirty="0" err="1">
                <a:latin typeface="Times New Roman" panose="02020603050405020304" charset="0"/>
                <a:cs typeface="Times New Roman" panose="02020603050405020304" charset="0"/>
              </a:rPr>
              <a:t>TasteHub</a:t>
            </a:r>
            <a:r>
              <a:rPr lang="en-US" altLang="en-US" sz="2400" b="1" dirty="0">
                <a:latin typeface="Times New Roman" panose="02020603050405020304" charset="0"/>
                <a:cs typeface="Times New Roman" panose="02020603050405020304" charset="0"/>
              </a:rPr>
              <a:t>: A Cross-platform Food Ordering System Using Mern And React Native</a:t>
            </a:r>
            <a:endParaRPr lang="en-IN" sz="2400" dirty="0"/>
          </a:p>
        </p:txBody>
      </p:sp>
      <p:pic>
        <p:nvPicPr>
          <p:cNvPr id="4" name="Picture 3">
            <a:extLst>
              <a:ext uri="{FF2B5EF4-FFF2-40B4-BE49-F238E27FC236}">
                <a16:creationId xmlns:a16="http://schemas.microsoft.com/office/drawing/2014/main" id="{42800668-B317-0A81-0E45-BCB28A0C32A3}"/>
              </a:ext>
            </a:extLst>
          </p:cNvPr>
          <p:cNvPicPr>
            <a:picLocks noChangeAspect="1"/>
          </p:cNvPicPr>
          <p:nvPr/>
        </p:nvPicPr>
        <p:blipFill>
          <a:blip r:embed="rId2"/>
          <a:stretch>
            <a:fillRect/>
          </a:stretch>
        </p:blipFill>
        <p:spPr>
          <a:xfrm>
            <a:off x="545169" y="2352277"/>
            <a:ext cx="6087767" cy="3424369"/>
          </a:xfrm>
          <a:prstGeom prst="roundRect">
            <a:avLst>
              <a:gd name="adj" fmla="val 0"/>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5" name="Picture 4">
            <a:extLst>
              <a:ext uri="{FF2B5EF4-FFF2-40B4-BE49-F238E27FC236}">
                <a16:creationId xmlns:a16="http://schemas.microsoft.com/office/drawing/2014/main" id="{2518549C-D6D1-E7C8-97BB-7E3F3F3823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5694" y="3275397"/>
            <a:ext cx="1362110" cy="2951238"/>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8" name="Picture 7">
            <a:extLst>
              <a:ext uri="{FF2B5EF4-FFF2-40B4-BE49-F238E27FC236}">
                <a16:creationId xmlns:a16="http://schemas.microsoft.com/office/drawing/2014/main" id="{DCD1775F-B53B-F87C-0FFD-4DEAC5B87C93}"/>
              </a:ext>
            </a:extLst>
          </p:cNvPr>
          <p:cNvPicPr>
            <a:picLocks noChangeAspect="1"/>
          </p:cNvPicPr>
          <p:nvPr/>
        </p:nvPicPr>
        <p:blipFill>
          <a:blip r:embed="rId4"/>
          <a:stretch>
            <a:fillRect/>
          </a:stretch>
        </p:blipFill>
        <p:spPr>
          <a:xfrm>
            <a:off x="7683620" y="2567347"/>
            <a:ext cx="3607048" cy="310424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697904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42CEC8D-EF6C-E13E-966F-657B5FB22E27}"/>
              </a:ext>
            </a:extLst>
          </p:cNvPr>
          <p:cNvSpPr txBox="1"/>
          <p:nvPr/>
        </p:nvSpPr>
        <p:spPr>
          <a:xfrm>
            <a:off x="1219721" y="2518779"/>
            <a:ext cx="9752557" cy="2585323"/>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Taste Hub is a cross-platform food ordering system designed to provide a smooth and convenient experience for customers. Users can browse a variety of restaurants, explore detailed menus with images and categories, add items to their cart, place orders, and track delivery status in real time. To enhance user interaction and support, the system integrates an AI intelligent chatbot named Taste Bot, which assists users by answering queries, suggesting dishes, and providing restaurant recommendations thereby improving engagement and accessibility. Restaurants can also manage their menus, view incoming orders, and track order status, making the platform useful for both customers and restaurant owners. </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2F3830BF-B1A5-BE17-3D5F-C8A15A78C529}"/>
              </a:ext>
            </a:extLst>
          </p:cNvPr>
          <p:cNvCxnSpPr>
            <a:cxnSpLocks/>
          </p:cNvCxnSpPr>
          <p:nvPr/>
        </p:nvCxnSpPr>
        <p:spPr>
          <a:xfrm>
            <a:off x="555526" y="1447252"/>
            <a:ext cx="10785987" cy="0"/>
          </a:xfrm>
          <a:prstGeom prst="line">
            <a:avLst/>
          </a:prstGeom>
          <a:ln w="38100"/>
        </p:spPr>
        <p:style>
          <a:lnRef idx="3">
            <a:schemeClr val="dk1"/>
          </a:lnRef>
          <a:fillRef idx="0">
            <a:schemeClr val="dk1"/>
          </a:fillRef>
          <a:effectRef idx="2">
            <a:schemeClr val="dk1"/>
          </a:effectRef>
          <a:fontRef idx="minor">
            <a:schemeClr val="tx1"/>
          </a:fontRef>
        </p:style>
      </p:cxnSp>
      <p:sp>
        <p:nvSpPr>
          <p:cNvPr id="3" name="TextBox 2">
            <a:extLst>
              <a:ext uri="{FF2B5EF4-FFF2-40B4-BE49-F238E27FC236}">
                <a16:creationId xmlns:a16="http://schemas.microsoft.com/office/drawing/2014/main" id="{BD8DA24B-9544-2CC6-0A9C-9935A473D7DD}"/>
              </a:ext>
            </a:extLst>
          </p:cNvPr>
          <p:cNvSpPr txBox="1"/>
          <p:nvPr/>
        </p:nvSpPr>
        <p:spPr>
          <a:xfrm>
            <a:off x="555526" y="920644"/>
            <a:ext cx="6096000" cy="461665"/>
          </a:xfrm>
          <a:prstGeom prst="rect">
            <a:avLst/>
          </a:prstGeom>
          <a:noFill/>
        </p:spPr>
        <p:txBody>
          <a:bodyPr wrap="square">
            <a:spAutoFit/>
          </a:bodyPr>
          <a:lstStyle/>
          <a:p>
            <a:pPr>
              <a:buNone/>
            </a:pPr>
            <a:r>
              <a:rPr lang="en-IN" sz="2400" b="1" dirty="0">
                <a:effectLst/>
                <a:latin typeface="Times New Roman" panose="02020603050405020304" pitchFamily="18" charset="0"/>
                <a:cs typeface="Times New Roman" panose="02020603050405020304" pitchFamily="18" charset="0"/>
              </a:rPr>
              <a:t>Abstract</a:t>
            </a:r>
            <a:endParaRPr lang="en-IN" sz="22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9738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42CEC8D-EF6C-E13E-966F-657B5FB22E27}"/>
              </a:ext>
            </a:extLst>
          </p:cNvPr>
          <p:cNvSpPr txBox="1"/>
          <p:nvPr/>
        </p:nvSpPr>
        <p:spPr>
          <a:xfrm>
            <a:off x="1012723" y="1692231"/>
            <a:ext cx="10183762" cy="4121641"/>
          </a:xfrm>
          <a:prstGeom prst="rect">
            <a:avLst/>
          </a:prstGeom>
          <a:noFill/>
        </p:spPr>
        <p:txBody>
          <a:bodyPr wrap="square">
            <a:spAutoFit/>
          </a:bodyPr>
          <a:lstStyle/>
          <a:p>
            <a:pPr algn="just">
              <a:spcBef>
                <a:spcPts val="450"/>
              </a:spcBef>
              <a:spcAft>
                <a:spcPts val="600"/>
              </a:spcAft>
              <a:buFont typeface="+mj-lt"/>
              <a:buAutoNum type="arabicPeriod"/>
            </a:pPr>
            <a:r>
              <a:rPr lang="en-US" b="1" i="0" dirty="0">
                <a:effectLst/>
                <a:latin typeface="Times New Roman" panose="02020603050405020304" pitchFamily="18" charset="0"/>
                <a:cs typeface="Times New Roman" panose="02020603050405020304" pitchFamily="18" charset="0"/>
              </a:rPr>
              <a:t>Develop a cross‑platform food ordering system:</a:t>
            </a:r>
            <a:r>
              <a:rPr lang="en-US" dirty="0">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Build </a:t>
            </a:r>
            <a:r>
              <a:rPr lang="en-US" b="0" i="0" dirty="0" err="1">
                <a:effectLst/>
                <a:latin typeface="Times New Roman" panose="02020603050405020304" pitchFamily="18" charset="0"/>
                <a:cs typeface="Times New Roman" panose="02020603050405020304" pitchFamily="18" charset="0"/>
              </a:rPr>
              <a:t>TasteHub</a:t>
            </a:r>
            <a:r>
              <a:rPr lang="en-US" b="0" i="0" dirty="0">
                <a:effectLst/>
                <a:latin typeface="Times New Roman" panose="02020603050405020304" pitchFamily="18" charset="0"/>
                <a:cs typeface="Times New Roman" panose="02020603050405020304" pitchFamily="18" charset="0"/>
              </a:rPr>
              <a:t> for web and mobile to let users discover nearby restaurants, browse digital menus, place online orders, and track deliveries in real time.</a:t>
            </a:r>
          </a:p>
          <a:p>
            <a:pPr algn="just">
              <a:spcBef>
                <a:spcPts val="450"/>
              </a:spcBef>
              <a:spcAft>
                <a:spcPts val="600"/>
              </a:spcAft>
              <a:buFont typeface="+mj-lt"/>
              <a:buAutoNum type="arabicPeriod"/>
            </a:pPr>
            <a:r>
              <a:rPr lang="en-US" b="1" i="0" dirty="0">
                <a:effectLst/>
                <a:latin typeface="Times New Roman" panose="02020603050405020304" pitchFamily="18" charset="0"/>
                <a:cs typeface="Times New Roman" panose="02020603050405020304" pitchFamily="18" charset="0"/>
              </a:rPr>
              <a:t>Enhance UX with intelligent chatbot integration</a:t>
            </a:r>
            <a:r>
              <a:rPr lang="en-US" dirty="0">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Integrate </a:t>
            </a:r>
            <a:r>
              <a:rPr lang="en-US" b="0" i="0" dirty="0" err="1">
                <a:effectLst/>
                <a:latin typeface="Times New Roman" panose="02020603050405020304" pitchFamily="18" charset="0"/>
                <a:cs typeface="Times New Roman" panose="02020603050405020304" pitchFamily="18" charset="0"/>
              </a:rPr>
              <a:t>TasteBot</a:t>
            </a:r>
            <a:r>
              <a:rPr lang="en-US" b="0" i="0" dirty="0">
                <a:effectLst/>
                <a:latin typeface="Times New Roman" panose="02020603050405020304" pitchFamily="18" charset="0"/>
                <a:cs typeface="Times New Roman" panose="02020603050405020304" pitchFamily="18" charset="0"/>
              </a:rPr>
              <a:t> (AI chatbot) to answer queries, recommend dishes/restaurants, view order status and adding/removing items to cart.</a:t>
            </a:r>
          </a:p>
          <a:p>
            <a:pPr algn="just">
              <a:spcBef>
                <a:spcPts val="450"/>
              </a:spcBef>
              <a:spcAft>
                <a:spcPts val="600"/>
              </a:spcAft>
              <a:buFont typeface="+mj-lt"/>
              <a:buAutoNum type="arabicPeriod"/>
            </a:pPr>
            <a:r>
              <a:rPr lang="en-US" b="1" i="0" dirty="0">
                <a:effectLst/>
                <a:latin typeface="Times New Roman" panose="02020603050405020304" pitchFamily="18" charset="0"/>
                <a:cs typeface="Times New Roman" panose="02020603050405020304" pitchFamily="18" charset="0"/>
              </a:rPr>
              <a:t>Provide restaurant management and order tracking</a:t>
            </a:r>
            <a:r>
              <a:rPr lang="en-US" dirty="0">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Enable partners to update menus, manage incoming orders, monitor statuses.</a:t>
            </a:r>
          </a:p>
          <a:p>
            <a:pPr algn="just">
              <a:spcBef>
                <a:spcPts val="450"/>
              </a:spcBef>
              <a:spcAft>
                <a:spcPts val="600"/>
              </a:spcAft>
              <a:buFont typeface="+mj-lt"/>
              <a:buAutoNum type="arabicPeriod"/>
            </a:pPr>
            <a:r>
              <a:rPr lang="en-US" b="1" i="0" dirty="0">
                <a:effectLst/>
                <a:latin typeface="Times New Roman" panose="02020603050405020304" pitchFamily="18" charset="0"/>
                <a:cs typeface="Times New Roman" panose="02020603050405020304" pitchFamily="18" charset="0"/>
              </a:rPr>
              <a:t>Ensure seamless synchronization across platforms</a:t>
            </a:r>
            <a:r>
              <a:rPr lang="en-US" dirty="0">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Use React, React Native, Node.js, Express, and MongoDB to synchronize menu changes, order status, and availability instantly across web and mobile.</a:t>
            </a:r>
          </a:p>
          <a:p>
            <a:pPr algn="just">
              <a:spcBef>
                <a:spcPts val="450"/>
              </a:spcBef>
              <a:spcAft>
                <a:spcPts val="600"/>
              </a:spcAft>
              <a:buFont typeface="+mj-lt"/>
              <a:buAutoNum type="arabicPeriod"/>
            </a:pPr>
            <a:r>
              <a:rPr lang="en-US" b="1" i="0" dirty="0">
                <a:effectLst/>
                <a:latin typeface="Times New Roman" panose="02020603050405020304" pitchFamily="18" charset="0"/>
                <a:cs typeface="Times New Roman" panose="02020603050405020304" pitchFamily="18" charset="0"/>
              </a:rPr>
              <a:t>Implement secure backend architecture</a:t>
            </a:r>
            <a:r>
              <a:rPr lang="en-US" dirty="0">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Design a robust backend with authentication, and fault tolerance; support concurrent users.</a:t>
            </a:r>
          </a:p>
          <a:p>
            <a:pPr algn="just">
              <a:spcBef>
                <a:spcPts val="450"/>
              </a:spcBef>
              <a:spcAft>
                <a:spcPts val="600"/>
              </a:spcAft>
              <a:buFont typeface="+mj-lt"/>
              <a:buAutoNum type="arabicPeriod"/>
            </a:pPr>
            <a:r>
              <a:rPr lang="en-US" b="1" i="0" dirty="0">
                <a:effectLst/>
                <a:latin typeface="Times New Roman" panose="02020603050405020304" pitchFamily="18" charset="0"/>
                <a:cs typeface="Times New Roman" panose="02020603050405020304" pitchFamily="18" charset="0"/>
              </a:rPr>
              <a:t>Deliver modern UI and accessibility</a:t>
            </a:r>
            <a:r>
              <a:rPr lang="en-US" dirty="0">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Create an intuitive, responsive interface with clear menu layouts, simple cart flows, and smooth transitions for inclusive access across devices.</a:t>
            </a:r>
          </a:p>
        </p:txBody>
      </p:sp>
      <p:cxnSp>
        <p:nvCxnSpPr>
          <p:cNvPr id="4" name="Straight Connector 3">
            <a:extLst>
              <a:ext uri="{FF2B5EF4-FFF2-40B4-BE49-F238E27FC236}">
                <a16:creationId xmlns:a16="http://schemas.microsoft.com/office/drawing/2014/main" id="{829957E8-4DAA-FDE4-A40B-1642384DFA36}"/>
              </a:ext>
            </a:extLst>
          </p:cNvPr>
          <p:cNvCxnSpPr>
            <a:cxnSpLocks/>
          </p:cNvCxnSpPr>
          <p:nvPr/>
        </p:nvCxnSpPr>
        <p:spPr>
          <a:xfrm>
            <a:off x="555526" y="1447252"/>
            <a:ext cx="10785987" cy="0"/>
          </a:xfrm>
          <a:prstGeom prst="line">
            <a:avLst/>
          </a:prstGeom>
          <a:ln w="38100"/>
        </p:spPr>
        <p:style>
          <a:lnRef idx="3">
            <a:schemeClr val="dk1"/>
          </a:lnRef>
          <a:fillRef idx="0">
            <a:schemeClr val="dk1"/>
          </a:fillRef>
          <a:effectRef idx="2">
            <a:schemeClr val="dk1"/>
          </a:effectRef>
          <a:fontRef idx="minor">
            <a:schemeClr val="tx1"/>
          </a:fontRef>
        </p:style>
      </p:cxnSp>
      <p:sp>
        <p:nvSpPr>
          <p:cNvPr id="5" name="TextBox 4">
            <a:extLst>
              <a:ext uri="{FF2B5EF4-FFF2-40B4-BE49-F238E27FC236}">
                <a16:creationId xmlns:a16="http://schemas.microsoft.com/office/drawing/2014/main" id="{E5891F5F-264A-EA87-130E-04390DF90D28}"/>
              </a:ext>
            </a:extLst>
          </p:cNvPr>
          <p:cNvSpPr txBox="1"/>
          <p:nvPr/>
        </p:nvSpPr>
        <p:spPr>
          <a:xfrm>
            <a:off x="555526" y="920644"/>
            <a:ext cx="6096000" cy="461665"/>
          </a:xfrm>
          <a:prstGeom prst="rect">
            <a:avLst/>
          </a:prstGeom>
          <a:noFill/>
        </p:spPr>
        <p:txBody>
          <a:bodyPr wrap="square">
            <a:spAutoFit/>
          </a:bodyPr>
          <a:lstStyle/>
          <a:p>
            <a:pPr>
              <a:buNone/>
            </a:pPr>
            <a:r>
              <a:rPr lang="en-IN" sz="2400" b="1" dirty="0">
                <a:effectLst/>
                <a:latin typeface="Times New Roman" panose="02020603050405020304" pitchFamily="18" charset="0"/>
                <a:cs typeface="Times New Roman" panose="02020603050405020304" pitchFamily="18" charset="0"/>
              </a:rPr>
              <a:t>Objectives</a:t>
            </a:r>
            <a:endParaRPr lang="en-IN" sz="22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495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BF1D221-C149-D313-CE45-665C629C95C0}"/>
              </a:ext>
            </a:extLst>
          </p:cNvPr>
          <p:cNvSpPr txBox="1"/>
          <p:nvPr/>
        </p:nvSpPr>
        <p:spPr>
          <a:xfrm>
            <a:off x="1430597" y="2274838"/>
            <a:ext cx="8844113" cy="2308324"/>
          </a:xfrm>
          <a:prstGeom prst="rect">
            <a:avLst/>
          </a:prstGeom>
          <a:noFill/>
        </p:spPr>
        <p:txBody>
          <a:bodyPr wrap="square">
            <a:spAutoFit/>
          </a:bodyPr>
          <a:lstStyle/>
          <a:p>
            <a:pPr algn="just"/>
            <a:r>
              <a:rPr lang="en-US" b="0" i="0" dirty="0">
                <a:effectLst/>
                <a:latin typeface="Times New Roman" panose="02020603050405020304" pitchFamily="18" charset="0"/>
                <a:cs typeface="Times New Roman" panose="02020603050405020304" pitchFamily="18" charset="0"/>
              </a:rPr>
              <a:t>Users often open a food app and feel overwhelmed by a flood of options, making it hard to quickly decide what to eat or where to order from. Without clear guidance that reflects their tastes, dietary needs, and context, decision-making becomes slow and frustrating. At the same time, many checkout experiences still involve multiple screens and repetitive steps, so users want a quick, minimal‑tap ordering flow that gets them from discovery to confirmation in seconds.</a:t>
            </a:r>
            <a:r>
              <a:rPr lang="en-US" dirty="0">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When questions arise—about availability, recommendations, or order issues—help isn’t instant; a smart assistant like </a:t>
            </a:r>
            <a:r>
              <a:rPr lang="en-US" b="0" i="0" dirty="0" err="1">
                <a:effectLst/>
                <a:latin typeface="Times New Roman" panose="02020603050405020304" pitchFamily="18" charset="0"/>
                <a:cs typeface="Times New Roman" panose="02020603050405020304" pitchFamily="18" charset="0"/>
              </a:rPr>
              <a:t>TasteBot</a:t>
            </a:r>
            <a:r>
              <a:rPr lang="en-US" b="0" i="0" dirty="0">
                <a:effectLst/>
                <a:latin typeface="Times New Roman" panose="02020603050405020304" pitchFamily="18" charset="0"/>
                <a:cs typeface="Times New Roman" panose="02020603050405020304" pitchFamily="18" charset="0"/>
              </a:rPr>
              <a:t> can provide conversational answers, dish suggestions, and shortcuts to actions right when they’re needed</a:t>
            </a:r>
          </a:p>
        </p:txBody>
      </p:sp>
      <p:cxnSp>
        <p:nvCxnSpPr>
          <p:cNvPr id="10" name="Straight Connector 9">
            <a:extLst>
              <a:ext uri="{FF2B5EF4-FFF2-40B4-BE49-F238E27FC236}">
                <a16:creationId xmlns:a16="http://schemas.microsoft.com/office/drawing/2014/main" id="{9E723463-E97C-7E83-6BFC-042AEA29E2B8}"/>
              </a:ext>
            </a:extLst>
          </p:cNvPr>
          <p:cNvCxnSpPr>
            <a:cxnSpLocks/>
          </p:cNvCxnSpPr>
          <p:nvPr/>
        </p:nvCxnSpPr>
        <p:spPr>
          <a:xfrm>
            <a:off x="555526" y="1447252"/>
            <a:ext cx="10785987" cy="0"/>
          </a:xfrm>
          <a:prstGeom prst="line">
            <a:avLst/>
          </a:prstGeom>
          <a:ln w="38100"/>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6232A781-9C40-4C23-4FEA-3D4970A8D01F}"/>
              </a:ext>
            </a:extLst>
          </p:cNvPr>
          <p:cNvSpPr txBox="1"/>
          <p:nvPr/>
        </p:nvSpPr>
        <p:spPr>
          <a:xfrm>
            <a:off x="555526" y="920644"/>
            <a:ext cx="6096000" cy="461665"/>
          </a:xfrm>
          <a:prstGeom prst="rect">
            <a:avLst/>
          </a:prstGeom>
          <a:noFill/>
        </p:spPr>
        <p:txBody>
          <a:bodyPr wrap="square">
            <a:spAutoFit/>
          </a:bodyPr>
          <a:lstStyle/>
          <a:p>
            <a:pPr>
              <a:buNone/>
            </a:pPr>
            <a:r>
              <a:rPr lang="en-IN" sz="2400" b="1" dirty="0">
                <a:effectLst/>
                <a:latin typeface="Times New Roman" panose="02020603050405020304" pitchFamily="18" charset="0"/>
                <a:cs typeface="Times New Roman" panose="02020603050405020304" pitchFamily="18" charset="0"/>
              </a:rPr>
              <a:t>Problem Statement</a:t>
            </a:r>
          </a:p>
        </p:txBody>
      </p:sp>
    </p:spTree>
    <p:extLst>
      <p:ext uri="{BB962C8B-B14F-4D97-AF65-F5344CB8AC3E}">
        <p14:creationId xmlns:p14="http://schemas.microsoft.com/office/powerpoint/2010/main" val="752118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4C309-FD2D-D251-753C-BA9F4462D99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FED102F-B5F1-907C-5022-CC7C794103F2}"/>
              </a:ext>
            </a:extLst>
          </p:cNvPr>
          <p:cNvSpPr txBox="1"/>
          <p:nvPr/>
        </p:nvSpPr>
        <p:spPr>
          <a:xfrm>
            <a:off x="752171" y="1862274"/>
            <a:ext cx="10235379" cy="3970318"/>
          </a:xfrm>
          <a:prstGeom prst="rect">
            <a:avLst/>
          </a:prstGeom>
          <a:noFill/>
        </p:spPr>
        <p:txBody>
          <a:bodyPr wrap="square">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Online food delivery platforms enhance user convenience by connecting customers with multiple restaurants through a single digital interface.</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Restaurant management systems improve operational efficiency by digitizing menus, orders, and customer interactions.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Chatbot-assisted ordering increases user engagement and simplifies the ordering process through conversational interfaces.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MERN stack–based applications provide scalability, modularity, and faster development for full-stack web solutions.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Secure authentication, responsive design, and API-based communication foster reliability and real-time performance in food ordering systems.</a:t>
            </a:r>
          </a:p>
        </p:txBody>
      </p:sp>
      <p:cxnSp>
        <p:nvCxnSpPr>
          <p:cNvPr id="10" name="Straight Connector 9">
            <a:extLst>
              <a:ext uri="{FF2B5EF4-FFF2-40B4-BE49-F238E27FC236}">
                <a16:creationId xmlns:a16="http://schemas.microsoft.com/office/drawing/2014/main" id="{FB30255C-802A-2A86-BA58-188704522389}"/>
              </a:ext>
            </a:extLst>
          </p:cNvPr>
          <p:cNvCxnSpPr>
            <a:cxnSpLocks/>
          </p:cNvCxnSpPr>
          <p:nvPr/>
        </p:nvCxnSpPr>
        <p:spPr>
          <a:xfrm>
            <a:off x="555526" y="1447252"/>
            <a:ext cx="10785987" cy="0"/>
          </a:xfrm>
          <a:prstGeom prst="line">
            <a:avLst/>
          </a:prstGeom>
          <a:ln w="38100"/>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1C10354F-313A-6E0E-CECA-9003CAC003D4}"/>
              </a:ext>
            </a:extLst>
          </p:cNvPr>
          <p:cNvSpPr txBox="1"/>
          <p:nvPr/>
        </p:nvSpPr>
        <p:spPr>
          <a:xfrm>
            <a:off x="555526" y="920644"/>
            <a:ext cx="6096000" cy="461665"/>
          </a:xfrm>
          <a:prstGeom prst="rect">
            <a:avLst/>
          </a:prstGeom>
          <a:noFill/>
        </p:spPr>
        <p:txBody>
          <a:bodyPr wrap="square">
            <a:spAutoFit/>
          </a:bodyPr>
          <a:lstStyle/>
          <a:p>
            <a:pPr>
              <a:buNone/>
            </a:pPr>
            <a:r>
              <a:rPr lang="en-IN" sz="2400" b="1" dirty="0">
                <a:effectLst/>
                <a:latin typeface="Times New Roman" panose="02020603050405020304" pitchFamily="18" charset="0"/>
                <a:cs typeface="Times New Roman" panose="02020603050405020304" pitchFamily="18" charset="0"/>
              </a:rPr>
              <a:t>Literature Review</a:t>
            </a:r>
          </a:p>
        </p:txBody>
      </p:sp>
    </p:spTree>
    <p:extLst>
      <p:ext uri="{BB962C8B-B14F-4D97-AF65-F5344CB8AC3E}">
        <p14:creationId xmlns:p14="http://schemas.microsoft.com/office/powerpoint/2010/main" val="243836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43EB880F-C64B-290E-F229-269516220286}"/>
              </a:ext>
            </a:extLst>
          </p:cNvPr>
          <p:cNvGrpSpPr/>
          <p:nvPr/>
        </p:nvGrpSpPr>
        <p:grpSpPr>
          <a:xfrm>
            <a:off x="1289506" y="1212963"/>
            <a:ext cx="9591190" cy="5370707"/>
            <a:chOff x="139635" y="30480"/>
            <a:chExt cx="11912729" cy="6827063"/>
          </a:xfrm>
        </p:grpSpPr>
        <p:pic>
          <p:nvPicPr>
            <p:cNvPr id="11" name="Picture 10">
              <a:extLst>
                <a:ext uri="{FF2B5EF4-FFF2-40B4-BE49-F238E27FC236}">
                  <a16:creationId xmlns:a16="http://schemas.microsoft.com/office/drawing/2014/main" id="{BDCB400F-A0B1-F1F6-5D09-FEF5497B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9635" y="30480"/>
              <a:ext cx="11912729" cy="6827063"/>
            </a:xfrm>
            <a:prstGeom prst="rect">
              <a:avLst/>
            </a:prstGeom>
          </p:spPr>
        </p:pic>
        <p:grpSp>
          <p:nvGrpSpPr>
            <p:cNvPr id="24" name="Group 23">
              <a:extLst>
                <a:ext uri="{FF2B5EF4-FFF2-40B4-BE49-F238E27FC236}">
                  <a16:creationId xmlns:a16="http://schemas.microsoft.com/office/drawing/2014/main" id="{7D9CBF09-CFE3-3166-3012-1D7189BAF6E9}"/>
                </a:ext>
              </a:extLst>
            </p:cNvPr>
            <p:cNvGrpSpPr/>
            <p:nvPr/>
          </p:nvGrpSpPr>
          <p:grpSpPr>
            <a:xfrm>
              <a:off x="4673600" y="466546"/>
              <a:ext cx="1622010" cy="1037134"/>
              <a:chOff x="4673600" y="466546"/>
              <a:chExt cx="1622010" cy="1037134"/>
            </a:xfrm>
          </p:grpSpPr>
          <p:grpSp>
            <p:nvGrpSpPr>
              <p:cNvPr id="20" name="Group 19">
                <a:extLst>
                  <a:ext uri="{FF2B5EF4-FFF2-40B4-BE49-F238E27FC236}">
                    <a16:creationId xmlns:a16="http://schemas.microsoft.com/office/drawing/2014/main" id="{1AAF4879-7963-59CE-814B-F9E997AA7D3F}"/>
                  </a:ext>
                </a:extLst>
              </p:cNvPr>
              <p:cNvGrpSpPr/>
              <p:nvPr/>
            </p:nvGrpSpPr>
            <p:grpSpPr>
              <a:xfrm>
                <a:off x="5155620" y="466546"/>
                <a:ext cx="1139990" cy="905579"/>
                <a:chOff x="5216580" y="557986"/>
                <a:chExt cx="1139990" cy="905579"/>
              </a:xfrm>
            </p:grpSpPr>
            <p:sp>
              <p:nvSpPr>
                <p:cNvPr id="15" name="TextBox 14">
                  <a:extLst>
                    <a:ext uri="{FF2B5EF4-FFF2-40B4-BE49-F238E27FC236}">
                      <a16:creationId xmlns:a16="http://schemas.microsoft.com/office/drawing/2014/main" id="{3E1EE493-08A8-D31E-EDA4-71BF7EDC274E}"/>
                    </a:ext>
                  </a:extLst>
                </p:cNvPr>
                <p:cNvSpPr txBox="1"/>
                <p:nvPr/>
              </p:nvSpPr>
              <p:spPr>
                <a:xfrm>
                  <a:off x="5216580" y="557986"/>
                  <a:ext cx="1139990" cy="312988"/>
                </a:xfrm>
                <a:prstGeom prst="rect">
                  <a:avLst/>
                </a:prstGeom>
                <a:noFill/>
              </p:spPr>
              <p:txBody>
                <a:bodyPr wrap="square">
                  <a:spAutoFit/>
                </a:bodyPr>
                <a:lstStyle/>
                <a:p>
                  <a:pPr algn="ctr">
                    <a:buNone/>
                  </a:pPr>
                  <a:r>
                    <a:rPr lang="en-IN" sz="1000" b="1" dirty="0">
                      <a:effectLst/>
                      <a:latin typeface="Arial" panose="020B0604020202020204" pitchFamily="34" charset="0"/>
                      <a:cs typeface="Arial" panose="020B0604020202020204" pitchFamily="34" charset="0"/>
                    </a:rPr>
                    <a:t>Frontend</a:t>
                  </a:r>
                </a:p>
              </p:txBody>
            </p:sp>
            <p:pic>
              <p:nvPicPr>
                <p:cNvPr id="2052" name="Picture 4" descr="Free Laptop SVG, PNG Icon, Symbol. Download Image.">
                  <a:extLst>
                    <a:ext uri="{FF2B5EF4-FFF2-40B4-BE49-F238E27FC236}">
                      <a16:creationId xmlns:a16="http://schemas.microsoft.com/office/drawing/2014/main" id="{A8A56258-4AE5-1755-5334-14391FD61A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3035" y="696485"/>
                  <a:ext cx="767080" cy="7670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2" name="Straight Arrow Connector 21">
                <a:extLst>
                  <a:ext uri="{FF2B5EF4-FFF2-40B4-BE49-F238E27FC236}">
                    <a16:creationId xmlns:a16="http://schemas.microsoft.com/office/drawing/2014/main" id="{98EFC867-8802-185F-68B9-E58E15E3B103}"/>
                  </a:ext>
                </a:extLst>
              </p:cNvPr>
              <p:cNvCxnSpPr>
                <a:cxnSpLocks/>
              </p:cNvCxnSpPr>
              <p:nvPr/>
            </p:nvCxnSpPr>
            <p:spPr>
              <a:xfrm flipH="1">
                <a:off x="4673600" y="1107440"/>
                <a:ext cx="558800" cy="396240"/>
              </a:xfrm>
              <a:prstGeom prst="straightConnector1">
                <a:avLst/>
              </a:prstGeom>
              <a:ln w="76200">
                <a:tailEnd type="triangle"/>
              </a:ln>
            </p:spPr>
            <p:style>
              <a:lnRef idx="3">
                <a:schemeClr val="dk1"/>
              </a:lnRef>
              <a:fillRef idx="0">
                <a:schemeClr val="dk1"/>
              </a:fillRef>
              <a:effectRef idx="2">
                <a:schemeClr val="dk1"/>
              </a:effectRef>
              <a:fontRef idx="minor">
                <a:schemeClr val="tx1"/>
              </a:fontRef>
            </p:style>
          </p:cxnSp>
        </p:grpSp>
        <p:grpSp>
          <p:nvGrpSpPr>
            <p:cNvPr id="25" name="Group 24">
              <a:extLst>
                <a:ext uri="{FF2B5EF4-FFF2-40B4-BE49-F238E27FC236}">
                  <a16:creationId xmlns:a16="http://schemas.microsoft.com/office/drawing/2014/main" id="{A77342E1-1F98-E0F4-7563-CFBF94D2AD54}"/>
                </a:ext>
              </a:extLst>
            </p:cNvPr>
            <p:cNvGrpSpPr/>
            <p:nvPr/>
          </p:nvGrpSpPr>
          <p:grpSpPr>
            <a:xfrm>
              <a:off x="8681140" y="472965"/>
              <a:ext cx="1611153" cy="1325355"/>
              <a:chOff x="5155620" y="137685"/>
              <a:chExt cx="1611153" cy="1325355"/>
            </a:xfrm>
          </p:grpSpPr>
          <p:grpSp>
            <p:nvGrpSpPr>
              <p:cNvPr id="26" name="Group 25">
                <a:extLst>
                  <a:ext uri="{FF2B5EF4-FFF2-40B4-BE49-F238E27FC236}">
                    <a16:creationId xmlns:a16="http://schemas.microsoft.com/office/drawing/2014/main" id="{2C25BF7B-0A8B-0B26-210E-7E396930F7BD}"/>
                  </a:ext>
                </a:extLst>
              </p:cNvPr>
              <p:cNvGrpSpPr/>
              <p:nvPr/>
            </p:nvGrpSpPr>
            <p:grpSpPr>
              <a:xfrm>
                <a:off x="5155620" y="137685"/>
                <a:ext cx="1611153" cy="767080"/>
                <a:chOff x="5216580" y="229125"/>
                <a:chExt cx="1611153" cy="767080"/>
              </a:xfrm>
            </p:grpSpPr>
            <p:sp>
              <p:nvSpPr>
                <p:cNvPr id="28" name="TextBox 27">
                  <a:extLst>
                    <a:ext uri="{FF2B5EF4-FFF2-40B4-BE49-F238E27FC236}">
                      <a16:creationId xmlns:a16="http://schemas.microsoft.com/office/drawing/2014/main" id="{1A3E4C60-4A13-5985-214E-D6115CCF74B6}"/>
                    </a:ext>
                  </a:extLst>
                </p:cNvPr>
                <p:cNvSpPr txBox="1"/>
                <p:nvPr/>
              </p:nvSpPr>
              <p:spPr>
                <a:xfrm>
                  <a:off x="5216580" y="557986"/>
                  <a:ext cx="1139990" cy="332550"/>
                </a:xfrm>
                <a:prstGeom prst="rect">
                  <a:avLst/>
                </a:prstGeom>
                <a:noFill/>
              </p:spPr>
              <p:txBody>
                <a:bodyPr wrap="square">
                  <a:spAutoFit/>
                </a:bodyPr>
                <a:lstStyle/>
                <a:p>
                  <a:pPr algn="ctr">
                    <a:buNone/>
                  </a:pPr>
                  <a:r>
                    <a:rPr lang="en-IN" sz="1050" b="1" dirty="0">
                      <a:effectLst/>
                      <a:latin typeface="Arial" panose="020B0604020202020204" pitchFamily="34" charset="0"/>
                      <a:cs typeface="Arial" panose="020B0604020202020204" pitchFamily="34" charset="0"/>
                    </a:rPr>
                    <a:t>Backend</a:t>
                  </a:r>
                  <a:endParaRPr lang="en-IN" sz="2200" b="1" dirty="0">
                    <a:effectLst/>
                    <a:latin typeface="Arial" panose="020B0604020202020204" pitchFamily="34" charset="0"/>
                    <a:cs typeface="Arial" panose="020B0604020202020204" pitchFamily="34" charset="0"/>
                  </a:endParaRPr>
                </a:p>
              </p:txBody>
            </p:sp>
            <p:pic>
              <p:nvPicPr>
                <p:cNvPr id="29" name="Picture 4">
                  <a:extLst>
                    <a:ext uri="{FF2B5EF4-FFF2-40B4-BE49-F238E27FC236}">
                      <a16:creationId xmlns:a16="http://schemas.microsoft.com/office/drawing/2014/main" id="{A6C80A62-7C5A-D70C-7182-F966497D6D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6060654" y="229125"/>
                  <a:ext cx="767079" cy="7670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7" name="Straight Arrow Connector 26">
                <a:extLst>
                  <a:ext uri="{FF2B5EF4-FFF2-40B4-BE49-F238E27FC236}">
                    <a16:creationId xmlns:a16="http://schemas.microsoft.com/office/drawing/2014/main" id="{B149C345-F66F-94D1-8BDF-BA567F3B8B52}"/>
                  </a:ext>
                </a:extLst>
              </p:cNvPr>
              <p:cNvCxnSpPr>
                <a:cxnSpLocks/>
              </p:cNvCxnSpPr>
              <p:nvPr/>
            </p:nvCxnSpPr>
            <p:spPr>
              <a:xfrm rot="18240000" flipH="1">
                <a:off x="5486400" y="985520"/>
                <a:ext cx="558800" cy="396240"/>
              </a:xfrm>
              <a:prstGeom prst="straightConnector1">
                <a:avLst/>
              </a:prstGeom>
              <a:ln w="76200">
                <a:tailEnd type="triangle"/>
              </a:ln>
            </p:spPr>
            <p:style>
              <a:lnRef idx="3">
                <a:schemeClr val="dk1"/>
              </a:lnRef>
              <a:fillRef idx="0">
                <a:schemeClr val="dk1"/>
              </a:fillRef>
              <a:effectRef idx="2">
                <a:schemeClr val="dk1"/>
              </a:effectRef>
              <a:fontRef idx="minor">
                <a:schemeClr val="tx1"/>
              </a:fontRef>
            </p:style>
          </p:cxnSp>
        </p:grpSp>
        <p:grpSp>
          <p:nvGrpSpPr>
            <p:cNvPr id="30" name="Group 29">
              <a:extLst>
                <a:ext uri="{FF2B5EF4-FFF2-40B4-BE49-F238E27FC236}">
                  <a16:creationId xmlns:a16="http://schemas.microsoft.com/office/drawing/2014/main" id="{33091666-E3D0-FA8B-F947-F7B29687DE6B}"/>
                </a:ext>
              </a:extLst>
            </p:cNvPr>
            <p:cNvGrpSpPr/>
            <p:nvPr/>
          </p:nvGrpSpPr>
          <p:grpSpPr>
            <a:xfrm>
              <a:off x="1532075" y="5586233"/>
              <a:ext cx="2156005" cy="499607"/>
              <a:chOff x="4620715" y="303033"/>
              <a:chExt cx="2156005" cy="499607"/>
            </a:xfrm>
          </p:grpSpPr>
          <p:grpSp>
            <p:nvGrpSpPr>
              <p:cNvPr id="31" name="Group 30">
                <a:extLst>
                  <a:ext uri="{FF2B5EF4-FFF2-40B4-BE49-F238E27FC236}">
                    <a16:creationId xmlns:a16="http://schemas.microsoft.com/office/drawing/2014/main" id="{C80211A4-DCBA-7679-A67C-93329EAFFA9F}"/>
                  </a:ext>
                </a:extLst>
              </p:cNvPr>
              <p:cNvGrpSpPr/>
              <p:nvPr/>
            </p:nvGrpSpPr>
            <p:grpSpPr>
              <a:xfrm>
                <a:off x="4620715" y="303033"/>
                <a:ext cx="1674895" cy="476501"/>
                <a:chOff x="4681675" y="394473"/>
                <a:chExt cx="1674895" cy="476501"/>
              </a:xfrm>
            </p:grpSpPr>
            <p:sp>
              <p:nvSpPr>
                <p:cNvPr id="33" name="TextBox 32">
                  <a:extLst>
                    <a:ext uri="{FF2B5EF4-FFF2-40B4-BE49-F238E27FC236}">
                      <a16:creationId xmlns:a16="http://schemas.microsoft.com/office/drawing/2014/main" id="{A87701D5-D1DA-AE83-3D7C-8E80266B4A3D}"/>
                    </a:ext>
                  </a:extLst>
                </p:cNvPr>
                <p:cNvSpPr txBox="1"/>
                <p:nvPr/>
              </p:nvSpPr>
              <p:spPr>
                <a:xfrm>
                  <a:off x="5216580" y="557986"/>
                  <a:ext cx="1139990" cy="312988"/>
                </a:xfrm>
                <a:prstGeom prst="rect">
                  <a:avLst/>
                </a:prstGeom>
                <a:noFill/>
              </p:spPr>
              <p:txBody>
                <a:bodyPr wrap="square">
                  <a:spAutoFit/>
                </a:bodyPr>
                <a:lstStyle/>
                <a:p>
                  <a:pPr algn="ctr">
                    <a:buNone/>
                  </a:pPr>
                  <a:r>
                    <a:rPr lang="en-IN" sz="1000" b="1" dirty="0">
                      <a:effectLst/>
                      <a:latin typeface="Arial" panose="020B0604020202020204" pitchFamily="34" charset="0"/>
                      <a:cs typeface="Arial" panose="020B0604020202020204" pitchFamily="34" charset="0"/>
                    </a:rPr>
                    <a:t>Database</a:t>
                  </a:r>
                </a:p>
              </p:txBody>
            </p:sp>
            <p:pic>
              <p:nvPicPr>
                <p:cNvPr id="34" name="Picture 4">
                  <a:extLst>
                    <a:ext uri="{FF2B5EF4-FFF2-40B4-BE49-F238E27FC236}">
                      <a16:creationId xmlns:a16="http://schemas.microsoft.com/office/drawing/2014/main" id="{0FAFBD22-3724-8347-C92B-2C1AC586CF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4681675" y="394473"/>
                  <a:ext cx="767080" cy="436383"/>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32" name="Straight Arrow Connector 31">
                <a:extLst>
                  <a:ext uri="{FF2B5EF4-FFF2-40B4-BE49-F238E27FC236}">
                    <a16:creationId xmlns:a16="http://schemas.microsoft.com/office/drawing/2014/main" id="{D11FCBEF-9D09-13E6-0819-5CB5EA491F4C}"/>
                  </a:ext>
                </a:extLst>
              </p:cNvPr>
              <p:cNvCxnSpPr>
                <a:cxnSpLocks/>
              </p:cNvCxnSpPr>
              <p:nvPr/>
            </p:nvCxnSpPr>
            <p:spPr>
              <a:xfrm rot="12960000" flipH="1">
                <a:off x="6217920" y="406400"/>
                <a:ext cx="558800" cy="396240"/>
              </a:xfrm>
              <a:prstGeom prst="straightConnector1">
                <a:avLst/>
              </a:prstGeom>
              <a:ln w="76200">
                <a:tailEnd type="triangle"/>
              </a:ln>
            </p:spPr>
            <p:style>
              <a:lnRef idx="3">
                <a:schemeClr val="dk1"/>
              </a:lnRef>
              <a:fillRef idx="0">
                <a:schemeClr val="dk1"/>
              </a:fillRef>
              <a:effectRef idx="2">
                <a:schemeClr val="dk1"/>
              </a:effectRef>
              <a:fontRef idx="minor">
                <a:schemeClr val="tx1"/>
              </a:fontRef>
            </p:style>
          </p:cxnSp>
        </p:grpSp>
      </p:grpSp>
      <p:cxnSp>
        <p:nvCxnSpPr>
          <p:cNvPr id="36" name="Straight Connector 35">
            <a:extLst>
              <a:ext uri="{FF2B5EF4-FFF2-40B4-BE49-F238E27FC236}">
                <a16:creationId xmlns:a16="http://schemas.microsoft.com/office/drawing/2014/main" id="{7BEC04C6-3F58-DCEA-111D-90FD53893DBA}"/>
              </a:ext>
            </a:extLst>
          </p:cNvPr>
          <p:cNvCxnSpPr>
            <a:cxnSpLocks/>
          </p:cNvCxnSpPr>
          <p:nvPr/>
        </p:nvCxnSpPr>
        <p:spPr>
          <a:xfrm>
            <a:off x="555526" y="918932"/>
            <a:ext cx="10785987" cy="0"/>
          </a:xfrm>
          <a:prstGeom prst="line">
            <a:avLst/>
          </a:prstGeom>
          <a:ln w="38100"/>
        </p:spPr>
        <p:style>
          <a:lnRef idx="3">
            <a:schemeClr val="dk1"/>
          </a:lnRef>
          <a:fillRef idx="0">
            <a:schemeClr val="dk1"/>
          </a:fillRef>
          <a:effectRef idx="2">
            <a:schemeClr val="dk1"/>
          </a:effectRef>
          <a:fontRef idx="minor">
            <a:schemeClr val="tx1"/>
          </a:fontRef>
        </p:style>
      </p:cxnSp>
      <p:sp>
        <p:nvSpPr>
          <p:cNvPr id="37" name="TextBox 36">
            <a:extLst>
              <a:ext uri="{FF2B5EF4-FFF2-40B4-BE49-F238E27FC236}">
                <a16:creationId xmlns:a16="http://schemas.microsoft.com/office/drawing/2014/main" id="{EC7C04D7-F574-C8A8-C227-346DC71C5690}"/>
              </a:ext>
            </a:extLst>
          </p:cNvPr>
          <p:cNvSpPr txBox="1"/>
          <p:nvPr/>
        </p:nvSpPr>
        <p:spPr>
          <a:xfrm>
            <a:off x="555526" y="392324"/>
            <a:ext cx="6096000" cy="461665"/>
          </a:xfrm>
          <a:prstGeom prst="rect">
            <a:avLst/>
          </a:prstGeom>
          <a:noFill/>
        </p:spPr>
        <p:txBody>
          <a:bodyPr wrap="square">
            <a:spAutoFit/>
          </a:bodyPr>
          <a:lstStyle/>
          <a:p>
            <a:pPr>
              <a:buNone/>
            </a:pPr>
            <a:r>
              <a:rPr lang="en-IN" sz="2400" b="1" dirty="0">
                <a:effectLst/>
                <a:latin typeface="Times New Roman" panose="02020603050405020304" pitchFamily="18" charset="0"/>
                <a:cs typeface="Times New Roman" panose="02020603050405020304" pitchFamily="18" charset="0"/>
              </a:rPr>
              <a:t>Methodology</a:t>
            </a:r>
          </a:p>
        </p:txBody>
      </p:sp>
    </p:spTree>
    <p:extLst>
      <p:ext uri="{BB962C8B-B14F-4D97-AF65-F5344CB8AC3E}">
        <p14:creationId xmlns:p14="http://schemas.microsoft.com/office/powerpoint/2010/main" val="3325287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342A6-1920-8F9C-40E6-0AB0F4E0A952}"/>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8BE3FE8E-3878-2937-2EC7-ED42990B990C}"/>
              </a:ext>
            </a:extLst>
          </p:cNvPr>
          <p:cNvCxnSpPr>
            <a:cxnSpLocks/>
          </p:cNvCxnSpPr>
          <p:nvPr/>
        </p:nvCxnSpPr>
        <p:spPr>
          <a:xfrm>
            <a:off x="555526" y="918932"/>
            <a:ext cx="10785987" cy="0"/>
          </a:xfrm>
          <a:prstGeom prst="line">
            <a:avLst/>
          </a:prstGeom>
          <a:ln w="38100"/>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26048762-2AE6-DC8C-85CC-223FE5DD2D1B}"/>
              </a:ext>
            </a:extLst>
          </p:cNvPr>
          <p:cNvSpPr txBox="1"/>
          <p:nvPr/>
        </p:nvSpPr>
        <p:spPr>
          <a:xfrm>
            <a:off x="555526" y="392324"/>
            <a:ext cx="6096000" cy="461665"/>
          </a:xfrm>
          <a:prstGeom prst="rect">
            <a:avLst/>
          </a:prstGeom>
          <a:noFill/>
        </p:spPr>
        <p:txBody>
          <a:bodyPr wrap="square">
            <a:spAutoFit/>
          </a:bodyPr>
          <a:lstStyle/>
          <a:p>
            <a:pPr>
              <a:buNone/>
            </a:pPr>
            <a:r>
              <a:rPr lang="en-IN" sz="2400" b="1" dirty="0">
                <a:effectLst/>
                <a:latin typeface="Times New Roman" panose="02020603050405020304" pitchFamily="18" charset="0"/>
                <a:cs typeface="Times New Roman" panose="02020603050405020304" pitchFamily="18" charset="0"/>
              </a:rPr>
              <a:t>Implementation</a:t>
            </a:r>
          </a:p>
        </p:txBody>
      </p:sp>
      <p:grpSp>
        <p:nvGrpSpPr>
          <p:cNvPr id="9" name="Group 8">
            <a:extLst>
              <a:ext uri="{FF2B5EF4-FFF2-40B4-BE49-F238E27FC236}">
                <a16:creationId xmlns:a16="http://schemas.microsoft.com/office/drawing/2014/main" id="{26489CC3-1FA8-F947-36A4-28C875BBBCC8}"/>
              </a:ext>
            </a:extLst>
          </p:cNvPr>
          <p:cNvGrpSpPr/>
          <p:nvPr/>
        </p:nvGrpSpPr>
        <p:grpSpPr>
          <a:xfrm>
            <a:off x="924232" y="3057834"/>
            <a:ext cx="3264312" cy="3165986"/>
            <a:chOff x="1002890" y="2251587"/>
            <a:chExt cx="3264312" cy="3687479"/>
          </a:xfrm>
        </p:grpSpPr>
        <p:sp>
          <p:nvSpPr>
            <p:cNvPr id="2" name="Rectangle: Rounded Corners 1">
              <a:extLst>
                <a:ext uri="{FF2B5EF4-FFF2-40B4-BE49-F238E27FC236}">
                  <a16:creationId xmlns:a16="http://schemas.microsoft.com/office/drawing/2014/main" id="{5CDBD8DA-A033-1B80-A276-E060829E3E59}"/>
                </a:ext>
              </a:extLst>
            </p:cNvPr>
            <p:cNvSpPr/>
            <p:nvPr/>
          </p:nvSpPr>
          <p:spPr>
            <a:xfrm>
              <a:off x="1002890" y="2251587"/>
              <a:ext cx="3087329" cy="3687479"/>
            </a:xfrm>
            <a:prstGeom prst="roundRect">
              <a:avLst/>
            </a:prstGeom>
            <a:solidFill>
              <a:schemeClr val="bg1">
                <a:lumMod val="9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C1E73B31-5021-5503-2DEC-0AFF043F090E}"/>
                </a:ext>
              </a:extLst>
            </p:cNvPr>
            <p:cNvSpPr txBox="1"/>
            <p:nvPr/>
          </p:nvSpPr>
          <p:spPr>
            <a:xfrm>
              <a:off x="1219201" y="2529086"/>
              <a:ext cx="3048001" cy="3333796"/>
            </a:xfrm>
            <a:prstGeom prst="rect">
              <a:avLst/>
            </a:prstGeom>
            <a:noFill/>
          </p:spPr>
          <p:txBody>
            <a:bodyPr wrap="square" rtlCol="0">
              <a:spAutoFit/>
            </a:bodyPr>
            <a:lstStyle/>
            <a:p>
              <a:pPr lvl="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Backend Implementation</a:t>
              </a:r>
            </a:p>
            <a:p>
              <a:pPr lvl="0" eaLnBrk="0" fontAlgn="base" hangingPunct="0">
                <a:spcBef>
                  <a:spcPct val="0"/>
                </a:spcBef>
                <a:spcAft>
                  <a:spcPct val="0"/>
                </a:spcAft>
              </a:pPr>
              <a:endParaRPr lang="en-US" altLang="en-US" b="1"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NodeJS and </a:t>
              </a:r>
              <a:r>
                <a:rPr lang="en-US" altLang="en-US" dirty="0" err="1">
                  <a:latin typeface="Times New Roman" panose="02020603050405020304" pitchFamily="18" charset="0"/>
                  <a:cs typeface="Times New Roman" panose="02020603050405020304" pitchFamily="18" charset="0"/>
                </a:rPr>
                <a:t>ExpressJS</a:t>
              </a:r>
              <a:endParaRPr lang="en-US" altLang="en-US" dirty="0">
                <a:latin typeface="Times New Roman" panose="02020603050405020304" pitchFamily="18" charset="0"/>
                <a:cs typeface="Times New Roman" panose="02020603050405020304" pitchFamily="18" charset="0"/>
              </a:endParaRPr>
            </a:p>
            <a:p>
              <a:pPr marL="28575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REST APIs </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Routes and controllers</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Passwords hashing using </a:t>
              </a:r>
              <a:r>
                <a:rPr lang="en-US" altLang="en-US" dirty="0" err="1">
                  <a:latin typeface="Times New Roman" panose="02020603050405020304" pitchFamily="18" charset="0"/>
                  <a:cs typeface="Times New Roman" panose="02020603050405020304" pitchFamily="18" charset="0"/>
                </a:rPr>
                <a:t>bcrypt</a:t>
              </a:r>
              <a:endParaRPr lang="en-US" altLang="en-US"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Database connected via Mongoose</a:t>
              </a:r>
            </a:p>
            <a:p>
              <a:pPr lvl="0" eaLnBrk="0" fontAlgn="base" hangingPunct="0">
                <a:spcBef>
                  <a:spcPct val="0"/>
                </a:spcBef>
                <a:spcAft>
                  <a:spcPct val="0"/>
                </a:spcAft>
              </a:pPr>
              <a:endParaRPr lang="en-IN" dirty="0"/>
            </a:p>
          </p:txBody>
        </p:sp>
      </p:grpSp>
      <p:grpSp>
        <p:nvGrpSpPr>
          <p:cNvPr id="10" name="Group 9">
            <a:extLst>
              <a:ext uri="{FF2B5EF4-FFF2-40B4-BE49-F238E27FC236}">
                <a16:creationId xmlns:a16="http://schemas.microsoft.com/office/drawing/2014/main" id="{40D5720B-9063-7988-1CA4-A1096BB27DB8}"/>
              </a:ext>
            </a:extLst>
          </p:cNvPr>
          <p:cNvGrpSpPr/>
          <p:nvPr/>
        </p:nvGrpSpPr>
        <p:grpSpPr>
          <a:xfrm>
            <a:off x="4345860" y="3057834"/>
            <a:ext cx="3303640" cy="3165986"/>
            <a:chOff x="1002890" y="2251587"/>
            <a:chExt cx="3303640" cy="3687479"/>
          </a:xfrm>
        </p:grpSpPr>
        <p:sp>
          <p:nvSpPr>
            <p:cNvPr id="11" name="Rectangle: Rounded Corners 10">
              <a:extLst>
                <a:ext uri="{FF2B5EF4-FFF2-40B4-BE49-F238E27FC236}">
                  <a16:creationId xmlns:a16="http://schemas.microsoft.com/office/drawing/2014/main" id="{7113F716-9891-B534-0610-F120285DF795}"/>
                </a:ext>
              </a:extLst>
            </p:cNvPr>
            <p:cNvSpPr/>
            <p:nvPr/>
          </p:nvSpPr>
          <p:spPr>
            <a:xfrm>
              <a:off x="1002890" y="2251587"/>
              <a:ext cx="3087329" cy="3687479"/>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TextBox 11">
              <a:extLst>
                <a:ext uri="{FF2B5EF4-FFF2-40B4-BE49-F238E27FC236}">
                  <a16:creationId xmlns:a16="http://schemas.microsoft.com/office/drawing/2014/main" id="{5B9680CF-35D6-4FAC-D9B4-F384E550B119}"/>
                </a:ext>
              </a:extLst>
            </p:cNvPr>
            <p:cNvSpPr txBox="1"/>
            <p:nvPr/>
          </p:nvSpPr>
          <p:spPr>
            <a:xfrm>
              <a:off x="1258529" y="2529086"/>
              <a:ext cx="3048001" cy="3011171"/>
            </a:xfrm>
            <a:prstGeom prst="rect">
              <a:avLst/>
            </a:prstGeom>
            <a:noFill/>
          </p:spPr>
          <p:txBody>
            <a:bodyPr wrap="square" rtlCol="0">
              <a:spAutoFit/>
            </a:bodyPr>
            <a:lstStyle/>
            <a:p>
              <a:pPr lvl="0"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Frontend Implementation</a:t>
              </a:r>
            </a:p>
            <a:p>
              <a:pPr lvl="0" eaLnBrk="0" fontAlgn="base" hangingPunct="0">
                <a:spcBef>
                  <a:spcPct val="0"/>
                </a:spcBef>
                <a:spcAft>
                  <a:spcPct val="0"/>
                </a:spcAft>
              </a:pPr>
              <a:endParaRPr lang="en-US" altLang="en-US" b="1"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React and React Native</a:t>
              </a:r>
            </a:p>
            <a:p>
              <a:pPr marL="285750" lvl="0" indent="-285750"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Axios</a:t>
              </a:r>
              <a:r>
                <a:rPr lang="en-US" altLang="en-US" dirty="0">
                  <a:latin typeface="Times New Roman" panose="02020603050405020304" pitchFamily="18" charset="0"/>
                  <a:cs typeface="Times New Roman" panose="02020603050405020304" pitchFamily="18" charset="0"/>
                </a:rPr>
                <a:t> for API calls</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React Context</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Postman API Testing</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Expo Go for app development</a:t>
              </a:r>
            </a:p>
            <a:p>
              <a:pPr lvl="0" eaLnBrk="0" fontAlgn="base" hangingPunct="0">
                <a:spcBef>
                  <a:spcPct val="0"/>
                </a:spcBef>
                <a:spcAft>
                  <a:spcPct val="0"/>
                </a:spcAft>
              </a:pPr>
              <a:endParaRPr lang="en-IN" dirty="0"/>
            </a:p>
          </p:txBody>
        </p:sp>
      </p:grpSp>
      <p:grpSp>
        <p:nvGrpSpPr>
          <p:cNvPr id="13" name="Group 12">
            <a:extLst>
              <a:ext uri="{FF2B5EF4-FFF2-40B4-BE49-F238E27FC236}">
                <a16:creationId xmlns:a16="http://schemas.microsoft.com/office/drawing/2014/main" id="{A307885D-2563-5B75-BF02-E6AF0138FC17}"/>
              </a:ext>
            </a:extLst>
          </p:cNvPr>
          <p:cNvGrpSpPr/>
          <p:nvPr/>
        </p:nvGrpSpPr>
        <p:grpSpPr>
          <a:xfrm>
            <a:off x="7826483" y="3057834"/>
            <a:ext cx="3087329" cy="3165986"/>
            <a:chOff x="1002890" y="2251587"/>
            <a:chExt cx="3087329" cy="3687479"/>
          </a:xfrm>
        </p:grpSpPr>
        <p:sp>
          <p:nvSpPr>
            <p:cNvPr id="14" name="Rectangle: Rounded Corners 13">
              <a:extLst>
                <a:ext uri="{FF2B5EF4-FFF2-40B4-BE49-F238E27FC236}">
                  <a16:creationId xmlns:a16="http://schemas.microsoft.com/office/drawing/2014/main" id="{3EE0C6F5-5338-F5CA-C56F-9B6FA16C8568}"/>
                </a:ext>
              </a:extLst>
            </p:cNvPr>
            <p:cNvSpPr/>
            <p:nvPr/>
          </p:nvSpPr>
          <p:spPr>
            <a:xfrm>
              <a:off x="1002890" y="2251587"/>
              <a:ext cx="3087329" cy="3687479"/>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extBox 14">
              <a:extLst>
                <a:ext uri="{FF2B5EF4-FFF2-40B4-BE49-F238E27FC236}">
                  <a16:creationId xmlns:a16="http://schemas.microsoft.com/office/drawing/2014/main" id="{C809453B-B3EB-5B27-475E-BA0CAA53FEAA}"/>
                </a:ext>
              </a:extLst>
            </p:cNvPr>
            <p:cNvSpPr txBox="1"/>
            <p:nvPr/>
          </p:nvSpPr>
          <p:spPr>
            <a:xfrm>
              <a:off x="1022553" y="2529086"/>
              <a:ext cx="3048001" cy="3333796"/>
            </a:xfrm>
            <a:prstGeom prst="rect">
              <a:avLst/>
            </a:prstGeom>
            <a:noFill/>
          </p:spPr>
          <p:txBody>
            <a:bodyPr wrap="square" rtlCol="0">
              <a:spAutoFit/>
            </a:bodyPr>
            <a:lstStyle/>
            <a:p>
              <a:pPr lvl="0" algn="ctr"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MongoDB</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Database </a:t>
              </a:r>
            </a:p>
            <a:p>
              <a:pPr lvl="0" eaLnBrk="0" fontAlgn="base" hangingPunct="0">
                <a:spcBef>
                  <a:spcPct val="0"/>
                </a:spcBef>
                <a:spcAft>
                  <a:spcPct val="0"/>
                </a:spcAft>
              </a:pPr>
              <a:endParaRPr lang="en-US" altLang="en-US" b="1"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Collections created using Models</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Collections:</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Users</a:t>
              </a:r>
              <a:r>
                <a:rPr lang="en-IN" altLang="en-US" dirty="0">
                  <a:latin typeface="Times New Roman" panose="02020603050405020304" pitchFamily="18" charset="0"/>
                  <a:cs typeface="Times New Roman" panose="02020603050405020304" pitchFamily="18" charset="0"/>
                </a:rPr>
                <a:t>, Restaurants</a:t>
              </a:r>
              <a:endParaRPr lang="en-US" altLang="en-US" dirty="0">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Admin</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Cart</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Product</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Orders</a:t>
              </a:r>
            </a:p>
          </p:txBody>
        </p:sp>
      </p:grpSp>
      <p:sp>
        <p:nvSpPr>
          <p:cNvPr id="17" name="TextBox 16">
            <a:extLst>
              <a:ext uri="{FF2B5EF4-FFF2-40B4-BE49-F238E27FC236}">
                <a16:creationId xmlns:a16="http://schemas.microsoft.com/office/drawing/2014/main" id="{DC698086-00CF-2980-CF96-A9B2719B168A}"/>
              </a:ext>
            </a:extLst>
          </p:cNvPr>
          <p:cNvSpPr txBox="1"/>
          <p:nvPr/>
        </p:nvSpPr>
        <p:spPr>
          <a:xfrm>
            <a:off x="1012722" y="1230148"/>
            <a:ext cx="10166555" cy="1477328"/>
          </a:xfrm>
          <a:prstGeom prst="rect">
            <a:avLst/>
          </a:prstGeom>
          <a:noFill/>
        </p:spPr>
        <p:txBody>
          <a:bodyPr wrap="square">
            <a:spAutoFit/>
          </a:bodyPr>
          <a:lstStyle/>
          <a:p>
            <a:pPr lvl="0" algn="just"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The </a:t>
            </a:r>
            <a:r>
              <a:rPr lang="en-US" altLang="en-US" b="1" dirty="0" err="1">
                <a:latin typeface="Times New Roman" panose="02020603050405020304" pitchFamily="18" charset="0"/>
                <a:cs typeface="Times New Roman" panose="02020603050405020304" pitchFamily="18" charset="0"/>
              </a:rPr>
              <a:t>TasteHub</a:t>
            </a:r>
            <a:r>
              <a:rPr lang="en-US" altLang="en-US" dirty="0">
                <a:latin typeface="Times New Roman" panose="02020603050405020304" pitchFamily="18" charset="0"/>
                <a:cs typeface="Times New Roman" panose="02020603050405020304" pitchFamily="18" charset="0"/>
              </a:rPr>
              <a:t> system is developed using the </a:t>
            </a:r>
            <a:r>
              <a:rPr lang="en-US" altLang="en-US" b="1" dirty="0">
                <a:latin typeface="Times New Roman" panose="02020603050405020304" pitchFamily="18" charset="0"/>
                <a:cs typeface="Times New Roman" panose="02020603050405020304" pitchFamily="18" charset="0"/>
              </a:rPr>
              <a:t>MERN Stack</a:t>
            </a:r>
            <a:r>
              <a:rPr lang="en-US" altLang="en-US" dirty="0">
                <a:latin typeface="Times New Roman" panose="02020603050405020304" pitchFamily="18" charset="0"/>
                <a:cs typeface="Times New Roman" panose="02020603050405020304" pitchFamily="18" charset="0"/>
              </a:rPr>
              <a:t>:</a:t>
            </a:r>
          </a:p>
          <a:p>
            <a:pPr marL="742950" lvl="1"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MongoDB:</a:t>
            </a:r>
            <a:r>
              <a:rPr lang="en-US" altLang="en-US" dirty="0">
                <a:latin typeface="Times New Roman" panose="02020603050405020304" pitchFamily="18" charset="0"/>
                <a:cs typeface="Times New Roman" panose="02020603050405020304" pitchFamily="18" charset="0"/>
              </a:rPr>
              <a:t> NoSQL database. Stores data in collections.</a:t>
            </a:r>
          </a:p>
          <a:p>
            <a:pPr marL="742950" lvl="1"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Express.js:</a:t>
            </a:r>
            <a:r>
              <a:rPr lang="en-US" altLang="en-US" dirty="0">
                <a:latin typeface="Times New Roman" panose="02020603050405020304" pitchFamily="18" charset="0"/>
                <a:cs typeface="Times New Roman" panose="02020603050405020304" pitchFamily="18" charset="0"/>
              </a:rPr>
              <a:t> Backend framework to build RESTful APIs and handle server requests.</a:t>
            </a:r>
          </a:p>
          <a:p>
            <a:pPr marL="742950" lvl="1"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React.js:</a:t>
            </a:r>
            <a:r>
              <a:rPr lang="en-US" altLang="en-US" dirty="0">
                <a:latin typeface="Times New Roman" panose="02020603050405020304" pitchFamily="18" charset="0"/>
                <a:cs typeface="Times New Roman" panose="02020603050405020304" pitchFamily="18" charset="0"/>
              </a:rPr>
              <a:t> Frontend library to design responsive and dynamic web interfaces.</a:t>
            </a:r>
          </a:p>
          <a:p>
            <a:pPr marL="742950" lvl="1"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Node.js:</a:t>
            </a:r>
            <a:r>
              <a:rPr lang="en-US" altLang="en-US" dirty="0">
                <a:latin typeface="Times New Roman" panose="02020603050405020304" pitchFamily="18" charset="0"/>
                <a:cs typeface="Times New Roman" panose="02020603050405020304" pitchFamily="18" charset="0"/>
              </a:rPr>
              <a:t> Server-side runtime for handling concurrent user requests efficiently</a:t>
            </a:r>
            <a:endParaRPr lang="en-IN" dirty="0"/>
          </a:p>
        </p:txBody>
      </p:sp>
    </p:spTree>
    <p:extLst>
      <p:ext uri="{BB962C8B-B14F-4D97-AF65-F5344CB8AC3E}">
        <p14:creationId xmlns:p14="http://schemas.microsoft.com/office/powerpoint/2010/main" val="3845838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7EA97AD-E1C5-BC81-F5E3-223E6B00FAE4}"/>
              </a:ext>
            </a:extLst>
          </p:cNvPr>
          <p:cNvGrpSpPr/>
          <p:nvPr/>
        </p:nvGrpSpPr>
        <p:grpSpPr>
          <a:xfrm>
            <a:off x="304799" y="624349"/>
            <a:ext cx="5662634" cy="2679290"/>
            <a:chOff x="1592825" y="3416710"/>
            <a:chExt cx="6096000" cy="2679290"/>
          </a:xfrm>
        </p:grpSpPr>
        <p:sp>
          <p:nvSpPr>
            <p:cNvPr id="11" name="Flowchart: Document 10">
              <a:extLst>
                <a:ext uri="{FF2B5EF4-FFF2-40B4-BE49-F238E27FC236}">
                  <a16:creationId xmlns:a16="http://schemas.microsoft.com/office/drawing/2014/main" id="{D990EE26-BD68-CB15-32AB-1DDCEDE7FFE1}"/>
                </a:ext>
              </a:extLst>
            </p:cNvPr>
            <p:cNvSpPr/>
            <p:nvPr/>
          </p:nvSpPr>
          <p:spPr>
            <a:xfrm>
              <a:off x="1592825" y="3416710"/>
              <a:ext cx="6096000" cy="2679290"/>
            </a:xfrm>
            <a:prstGeom prst="flowChartDocumen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5805EDCD-C4B2-0ADE-8691-A1F998226261}"/>
                </a:ext>
              </a:extLst>
            </p:cNvPr>
            <p:cNvSpPr txBox="1"/>
            <p:nvPr/>
          </p:nvSpPr>
          <p:spPr>
            <a:xfrm>
              <a:off x="1592825" y="3586682"/>
              <a:ext cx="6096000" cy="1754326"/>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Modules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registration and login with validation.</a:t>
              </a: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 all restaurants and promoted ones.</a:t>
              </a: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Browse food categories and updates cart.</a:t>
              </a: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Place, track, and cancel orders in real-time.</a:t>
              </a:r>
            </a:p>
          </p:txBody>
        </p:sp>
      </p:grpSp>
      <p:grpSp>
        <p:nvGrpSpPr>
          <p:cNvPr id="5" name="Group 4">
            <a:extLst>
              <a:ext uri="{FF2B5EF4-FFF2-40B4-BE49-F238E27FC236}">
                <a16:creationId xmlns:a16="http://schemas.microsoft.com/office/drawing/2014/main" id="{EC3C6E16-E5F7-3FBB-493F-8D29A7B4B90E}"/>
              </a:ext>
            </a:extLst>
          </p:cNvPr>
          <p:cNvGrpSpPr/>
          <p:nvPr/>
        </p:nvGrpSpPr>
        <p:grpSpPr>
          <a:xfrm>
            <a:off x="423532" y="3554361"/>
            <a:ext cx="5662635" cy="2679290"/>
            <a:chOff x="1592825" y="3416710"/>
            <a:chExt cx="6096000" cy="2679290"/>
          </a:xfrm>
        </p:grpSpPr>
        <p:sp>
          <p:nvSpPr>
            <p:cNvPr id="6" name="Flowchart: Document 5">
              <a:extLst>
                <a:ext uri="{FF2B5EF4-FFF2-40B4-BE49-F238E27FC236}">
                  <a16:creationId xmlns:a16="http://schemas.microsoft.com/office/drawing/2014/main" id="{3D52D2D0-E0B6-EA96-9269-0CDCB71694F3}"/>
                </a:ext>
              </a:extLst>
            </p:cNvPr>
            <p:cNvSpPr/>
            <p:nvPr/>
          </p:nvSpPr>
          <p:spPr>
            <a:xfrm>
              <a:off x="1592825" y="3416710"/>
              <a:ext cx="6096000" cy="2679290"/>
            </a:xfrm>
            <a:prstGeom prst="flowChartDocumen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8B1950A2-F869-336D-9178-73F167F212B1}"/>
                </a:ext>
              </a:extLst>
            </p:cNvPr>
            <p:cNvSpPr txBox="1"/>
            <p:nvPr/>
          </p:nvSpPr>
          <p:spPr>
            <a:xfrm>
              <a:off x="1714147" y="3665340"/>
              <a:ext cx="5597716" cy="1754326"/>
            </a:xfrm>
            <a:prstGeom prst="rect">
              <a:avLst/>
            </a:prstGeom>
            <a:noFill/>
          </p:spPr>
          <p:txBody>
            <a:bodyPr wrap="square">
              <a:spAutoFit/>
            </a:bodyPr>
            <a:lstStyle/>
            <a:p>
              <a:pPr lvl="0" algn="ctr"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Restaurant Modules</a:t>
              </a: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Register/login to access restaurant dashboard.</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Add, update, or delete food products.</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View and manage orders received from users.</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Update order status in real time.</a:t>
              </a:r>
            </a:p>
          </p:txBody>
        </p:sp>
      </p:grpSp>
      <p:grpSp>
        <p:nvGrpSpPr>
          <p:cNvPr id="8" name="Group 7">
            <a:extLst>
              <a:ext uri="{FF2B5EF4-FFF2-40B4-BE49-F238E27FC236}">
                <a16:creationId xmlns:a16="http://schemas.microsoft.com/office/drawing/2014/main" id="{AC030CA2-166E-E36C-2EBF-ED55E4C83662}"/>
              </a:ext>
            </a:extLst>
          </p:cNvPr>
          <p:cNvGrpSpPr/>
          <p:nvPr/>
        </p:nvGrpSpPr>
        <p:grpSpPr>
          <a:xfrm>
            <a:off x="6204899" y="624349"/>
            <a:ext cx="5781368" cy="2679290"/>
            <a:chOff x="1592825" y="3416710"/>
            <a:chExt cx="6223820" cy="2679290"/>
          </a:xfrm>
        </p:grpSpPr>
        <p:sp>
          <p:nvSpPr>
            <p:cNvPr id="9" name="Flowchart: Document 8">
              <a:extLst>
                <a:ext uri="{FF2B5EF4-FFF2-40B4-BE49-F238E27FC236}">
                  <a16:creationId xmlns:a16="http://schemas.microsoft.com/office/drawing/2014/main" id="{643E456D-1ACA-8421-5C31-BE5297FB5232}"/>
                </a:ext>
              </a:extLst>
            </p:cNvPr>
            <p:cNvSpPr/>
            <p:nvPr/>
          </p:nvSpPr>
          <p:spPr>
            <a:xfrm>
              <a:off x="1592825" y="3416710"/>
              <a:ext cx="6096000" cy="2679290"/>
            </a:xfrm>
            <a:prstGeom prst="flowChartDocumen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9687EF56-B46F-551C-87F5-4BE1D778217A}"/>
                </a:ext>
              </a:extLst>
            </p:cNvPr>
            <p:cNvSpPr txBox="1"/>
            <p:nvPr/>
          </p:nvSpPr>
          <p:spPr>
            <a:xfrm>
              <a:off x="1720645" y="3586682"/>
              <a:ext cx="6096000" cy="1754326"/>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Chatbot Modules</a:t>
              </a:r>
            </a:p>
            <a:p>
              <a:endParaRPr lang="en-US" b="1"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Integrated </a:t>
              </a:r>
              <a:r>
                <a:rPr lang="en-US" b="1" dirty="0">
                  <a:latin typeface="Times New Roman" panose="02020603050405020304" pitchFamily="18" charset="0"/>
                  <a:cs typeface="Times New Roman" panose="02020603050405020304" pitchFamily="18" charset="0"/>
                </a:rPr>
                <a:t>AI-based chatbot</a:t>
              </a:r>
              <a:r>
                <a:rPr lang="en-US"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Assists users in finding restaurants ,food items and updating Cart Items.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Visible only to </a:t>
              </a:r>
              <a:r>
                <a:rPr lang="en-US" b="1" dirty="0">
                  <a:latin typeface="Times New Roman" panose="02020603050405020304" pitchFamily="18" charset="0"/>
                  <a:cs typeface="Times New Roman" panose="02020603050405020304" pitchFamily="18" charset="0"/>
                </a:rPr>
                <a:t>authenticated users</a:t>
              </a:r>
              <a:endParaRPr lang="en-US" dirty="0">
                <a:latin typeface="Times New Roman" panose="02020603050405020304" pitchFamily="18" charset="0"/>
                <a:cs typeface="Times New Roman" panose="02020603050405020304" pitchFamily="18" charset="0"/>
              </a:endParaRPr>
            </a:p>
          </p:txBody>
        </p:sp>
      </p:grpSp>
      <p:grpSp>
        <p:nvGrpSpPr>
          <p:cNvPr id="12" name="Group 11">
            <a:extLst>
              <a:ext uri="{FF2B5EF4-FFF2-40B4-BE49-F238E27FC236}">
                <a16:creationId xmlns:a16="http://schemas.microsoft.com/office/drawing/2014/main" id="{938B0FB7-AFEA-F042-FC24-D3D415668FAF}"/>
              </a:ext>
            </a:extLst>
          </p:cNvPr>
          <p:cNvGrpSpPr/>
          <p:nvPr/>
        </p:nvGrpSpPr>
        <p:grpSpPr>
          <a:xfrm>
            <a:off x="6264266" y="3554361"/>
            <a:ext cx="5722000" cy="2679290"/>
            <a:chOff x="1592825" y="3416710"/>
            <a:chExt cx="6159909" cy="2679290"/>
          </a:xfrm>
        </p:grpSpPr>
        <p:sp>
          <p:nvSpPr>
            <p:cNvPr id="13" name="Flowchart: Document 12">
              <a:extLst>
                <a:ext uri="{FF2B5EF4-FFF2-40B4-BE49-F238E27FC236}">
                  <a16:creationId xmlns:a16="http://schemas.microsoft.com/office/drawing/2014/main" id="{DEF92B08-B97F-E92C-C581-E51B0F19F4BB}"/>
                </a:ext>
              </a:extLst>
            </p:cNvPr>
            <p:cNvSpPr/>
            <p:nvPr/>
          </p:nvSpPr>
          <p:spPr>
            <a:xfrm>
              <a:off x="1592825" y="3416710"/>
              <a:ext cx="6096000" cy="2679290"/>
            </a:xfrm>
            <a:prstGeom prst="flowChartDocumen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AADEC0DA-370C-A14B-7C65-0B1EF412A715}"/>
                </a:ext>
              </a:extLst>
            </p:cNvPr>
            <p:cNvSpPr txBox="1"/>
            <p:nvPr/>
          </p:nvSpPr>
          <p:spPr>
            <a:xfrm>
              <a:off x="1656734" y="3665340"/>
              <a:ext cx="6096000" cy="1754326"/>
            </a:xfrm>
            <a:prstGeom prst="rect">
              <a:avLst/>
            </a:prstGeom>
            <a:noFill/>
          </p:spPr>
          <p:txBody>
            <a:bodyPr wrap="square">
              <a:spAutoFit/>
            </a:bodyPr>
            <a:lstStyle/>
            <a:p>
              <a:pPr lvl="0" algn="ctr" eaLnBrk="0" fontAlgn="base" hangingPunct="0">
                <a:spcBef>
                  <a:spcPct val="0"/>
                </a:spcBef>
                <a:spcAft>
                  <a:spcPct val="0"/>
                </a:spcAft>
              </a:pPr>
              <a:r>
                <a:rPr lang="en-US" altLang="en-US" b="1" dirty="0">
                  <a:latin typeface="Times New Roman" panose="02020603050405020304" pitchFamily="18" charset="0"/>
                  <a:cs typeface="Times New Roman" panose="02020603050405020304" pitchFamily="18" charset="0"/>
                </a:rPr>
                <a:t>Admin Modules</a:t>
              </a: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Admin login and dashboard view.</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Display total users and restaurants count.</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Manages list of all and promoted restaurants.</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Promotes restaurants in the dashboard.</a:t>
              </a:r>
            </a:p>
          </p:txBody>
        </p:sp>
      </p:grpSp>
    </p:spTree>
    <p:extLst>
      <p:ext uri="{BB962C8B-B14F-4D97-AF65-F5344CB8AC3E}">
        <p14:creationId xmlns:p14="http://schemas.microsoft.com/office/powerpoint/2010/main" val="1842475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861F42A2-57E7-539B-4D5A-CB85F4743F44}"/>
              </a:ext>
            </a:extLst>
          </p:cNvPr>
          <p:cNvCxnSpPr>
            <a:cxnSpLocks/>
          </p:cNvCxnSpPr>
          <p:nvPr/>
        </p:nvCxnSpPr>
        <p:spPr>
          <a:xfrm>
            <a:off x="555526" y="918932"/>
            <a:ext cx="10785987" cy="0"/>
          </a:xfrm>
          <a:prstGeom prst="line">
            <a:avLst/>
          </a:prstGeom>
          <a:ln w="38100"/>
        </p:spPr>
        <p:style>
          <a:lnRef idx="3">
            <a:schemeClr val="dk1"/>
          </a:lnRef>
          <a:fillRef idx="0">
            <a:schemeClr val="dk1"/>
          </a:fillRef>
          <a:effectRef idx="2">
            <a:schemeClr val="dk1"/>
          </a:effectRef>
          <a:fontRef idx="minor">
            <a:schemeClr val="tx1"/>
          </a:fontRef>
        </p:style>
      </p:cxnSp>
      <p:sp>
        <p:nvSpPr>
          <p:cNvPr id="3" name="TextBox 2">
            <a:extLst>
              <a:ext uri="{FF2B5EF4-FFF2-40B4-BE49-F238E27FC236}">
                <a16:creationId xmlns:a16="http://schemas.microsoft.com/office/drawing/2014/main" id="{2C55809E-E4A5-6E61-4D98-4E492C74148E}"/>
              </a:ext>
            </a:extLst>
          </p:cNvPr>
          <p:cNvSpPr txBox="1"/>
          <p:nvPr/>
        </p:nvSpPr>
        <p:spPr>
          <a:xfrm>
            <a:off x="555526" y="392324"/>
            <a:ext cx="6096000" cy="461665"/>
          </a:xfrm>
          <a:prstGeom prst="rect">
            <a:avLst/>
          </a:prstGeom>
          <a:noFill/>
        </p:spPr>
        <p:txBody>
          <a:bodyPr wrap="square">
            <a:spAutoFit/>
          </a:bodyPr>
          <a:lstStyle/>
          <a:p>
            <a:pPr>
              <a:buNone/>
            </a:pPr>
            <a:r>
              <a:rPr lang="en-IN" sz="2400" b="1" dirty="0">
                <a:effectLst/>
                <a:latin typeface="Times New Roman" panose="02020603050405020304" pitchFamily="18" charset="0"/>
                <a:cs typeface="Times New Roman" panose="02020603050405020304" pitchFamily="18" charset="0"/>
              </a:rPr>
              <a:t>Deployment</a:t>
            </a:r>
          </a:p>
        </p:txBody>
      </p:sp>
      <p:pic>
        <p:nvPicPr>
          <p:cNvPr id="5" name="Picture 4">
            <a:extLst>
              <a:ext uri="{FF2B5EF4-FFF2-40B4-BE49-F238E27FC236}">
                <a16:creationId xmlns:a16="http://schemas.microsoft.com/office/drawing/2014/main" id="{A804E6B2-CBF8-817D-4A6E-71CB1198F65A}"/>
              </a:ext>
            </a:extLst>
          </p:cNvPr>
          <p:cNvPicPr>
            <a:picLocks noChangeAspect="1"/>
          </p:cNvPicPr>
          <p:nvPr/>
        </p:nvPicPr>
        <p:blipFill>
          <a:blip r:embed="rId2">
            <a:extLst>
              <a:ext uri="{28A0092B-C50C-407E-A947-70E740481C1C}">
                <a14:useLocalDpi xmlns:a14="http://schemas.microsoft.com/office/drawing/2010/main" val="0"/>
              </a:ext>
            </a:extLst>
          </a:blip>
          <a:srcRect l="8026" t="14703" r="9213" b="6558"/>
          <a:stretch>
            <a:fillRect/>
          </a:stretch>
        </p:blipFill>
        <p:spPr>
          <a:xfrm>
            <a:off x="5948516" y="1136016"/>
            <a:ext cx="5545394" cy="2521586"/>
          </a:xfrm>
          <a:prstGeom prst="rect">
            <a:avLst/>
          </a:prstGeom>
        </p:spPr>
      </p:pic>
      <p:pic>
        <p:nvPicPr>
          <p:cNvPr id="7" name="Picture 6">
            <a:extLst>
              <a:ext uri="{FF2B5EF4-FFF2-40B4-BE49-F238E27FC236}">
                <a16:creationId xmlns:a16="http://schemas.microsoft.com/office/drawing/2014/main" id="{6F8EEAB3-545B-1604-B1B1-1DB19D9638F4}"/>
              </a:ext>
            </a:extLst>
          </p:cNvPr>
          <p:cNvPicPr>
            <a:picLocks noChangeAspect="1"/>
          </p:cNvPicPr>
          <p:nvPr/>
        </p:nvPicPr>
        <p:blipFill>
          <a:blip r:embed="rId3">
            <a:extLst>
              <a:ext uri="{28A0092B-C50C-407E-A947-70E740481C1C}">
                <a14:useLocalDpi xmlns:a14="http://schemas.microsoft.com/office/drawing/2010/main" val="0"/>
              </a:ext>
            </a:extLst>
          </a:blip>
          <a:srcRect l="19055" t="8893" r="2614" b="9849"/>
          <a:stretch>
            <a:fillRect/>
          </a:stretch>
        </p:blipFill>
        <p:spPr>
          <a:xfrm>
            <a:off x="5948516" y="3874685"/>
            <a:ext cx="5545394" cy="2759721"/>
          </a:xfrm>
          <a:prstGeom prst="rect">
            <a:avLst/>
          </a:prstGeom>
        </p:spPr>
      </p:pic>
      <p:sp>
        <p:nvSpPr>
          <p:cNvPr id="8" name="TextBox 7">
            <a:extLst>
              <a:ext uri="{FF2B5EF4-FFF2-40B4-BE49-F238E27FC236}">
                <a16:creationId xmlns:a16="http://schemas.microsoft.com/office/drawing/2014/main" id="{E757982B-744E-4686-9235-A41C10120FE0}"/>
              </a:ext>
            </a:extLst>
          </p:cNvPr>
          <p:cNvSpPr txBox="1"/>
          <p:nvPr/>
        </p:nvSpPr>
        <p:spPr>
          <a:xfrm>
            <a:off x="698090" y="1796644"/>
            <a:ext cx="5662634" cy="1477328"/>
          </a:xfrm>
          <a:prstGeom prst="rect">
            <a:avLst/>
          </a:prstGeom>
          <a:noFill/>
        </p:spPr>
        <p:txBody>
          <a:bodyPr wrap="square">
            <a:spAutoFit/>
          </a:bodyPr>
          <a:lstStyle/>
          <a:p>
            <a:pPr marL="0" marR="0" lvl="0" indent="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 app : Deployed on </a:t>
            </a:r>
            <a:r>
              <a:rPr lang="en-US" altLang="en-US" dirty="0">
                <a:latin typeface="Times New Roman" panose="02020603050405020304" pitchFamily="18" charset="0"/>
                <a:cs typeface="Times New Roman" panose="02020603050405020304" pitchFamily="18" charset="0"/>
              </a:rPr>
              <a:t>V</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ercel.com</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Android: Exported using Expo GO</a:t>
            </a:r>
          </a:p>
          <a:p>
            <a:pPr marL="742950" lvl="1" indent="-285750"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Source code imported from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Github</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repository.</a:t>
            </a:r>
          </a:p>
        </p:txBody>
      </p:sp>
      <p:sp>
        <p:nvSpPr>
          <p:cNvPr id="9" name="TextBox 8">
            <a:extLst>
              <a:ext uri="{FF2B5EF4-FFF2-40B4-BE49-F238E27FC236}">
                <a16:creationId xmlns:a16="http://schemas.microsoft.com/office/drawing/2014/main" id="{2FE38FBB-CDF1-15F9-0C7C-008ACE57D532}"/>
              </a:ext>
            </a:extLst>
          </p:cNvPr>
          <p:cNvSpPr txBox="1"/>
          <p:nvPr/>
        </p:nvSpPr>
        <p:spPr>
          <a:xfrm>
            <a:off x="772209" y="4426773"/>
            <a:ext cx="5662634" cy="1200329"/>
          </a:xfrm>
          <a:prstGeom prst="rect">
            <a:avLst/>
          </a:prstGeom>
          <a:noFill/>
        </p:spPr>
        <p:txBody>
          <a:bodyPr wrap="square">
            <a:spAutoFit/>
          </a:bodyPr>
          <a:lstStyle/>
          <a:p>
            <a:pPr marL="0" marR="0" lvl="0" indent="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a:t>
            </a:r>
          </a:p>
          <a:p>
            <a:pPr lvl="1"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Hosted on Render.com</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Code imported from </a:t>
            </a:r>
            <a:r>
              <a:rPr lang="en-US" altLang="en-US" dirty="0" err="1">
                <a:latin typeface="Times New Roman" panose="02020603050405020304" pitchFamily="18" charset="0"/>
                <a:cs typeface="Times New Roman" panose="02020603050405020304" pitchFamily="18" charset="0"/>
              </a:rPr>
              <a:t>Github</a:t>
            </a:r>
            <a:r>
              <a:rPr lang="en-US" altLang="en-US" dirty="0">
                <a:latin typeface="Times New Roman" panose="02020603050405020304" pitchFamily="18" charset="0"/>
                <a:cs typeface="Times New Roman" panose="02020603050405020304" pitchFamily="18" charset="0"/>
              </a:rPr>
              <a:t> repository</a:t>
            </a:r>
          </a:p>
        </p:txBody>
      </p:sp>
    </p:spTree>
    <p:extLst>
      <p:ext uri="{BB962C8B-B14F-4D97-AF65-F5344CB8AC3E}">
        <p14:creationId xmlns:p14="http://schemas.microsoft.com/office/powerpoint/2010/main" val="4151140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7721D9-10D5-8F15-9147-F89C763BD688}"/>
              </a:ext>
            </a:extLst>
          </p:cNvPr>
          <p:cNvPicPr>
            <a:picLocks noChangeAspect="1"/>
          </p:cNvPicPr>
          <p:nvPr/>
        </p:nvPicPr>
        <p:blipFill>
          <a:blip r:embed="rId2"/>
          <a:srcRect l="18593" t="15167" r="11713"/>
          <a:stretch>
            <a:fillRect/>
          </a:stretch>
        </p:blipFill>
        <p:spPr>
          <a:xfrm>
            <a:off x="632585" y="3429000"/>
            <a:ext cx="5327879" cy="3063061"/>
          </a:xfrm>
          <a:prstGeom prst="rect">
            <a:avLst/>
          </a:prstGeom>
        </p:spPr>
      </p:pic>
      <p:pic>
        <p:nvPicPr>
          <p:cNvPr id="5" name="Picture 4">
            <a:extLst>
              <a:ext uri="{FF2B5EF4-FFF2-40B4-BE49-F238E27FC236}">
                <a16:creationId xmlns:a16="http://schemas.microsoft.com/office/drawing/2014/main" id="{68549D20-1676-2079-C9B5-11BDACA141E6}"/>
              </a:ext>
            </a:extLst>
          </p:cNvPr>
          <p:cNvPicPr>
            <a:picLocks noChangeAspect="1"/>
          </p:cNvPicPr>
          <p:nvPr/>
        </p:nvPicPr>
        <p:blipFill>
          <a:blip r:embed="rId3">
            <a:extLst>
              <a:ext uri="{28A0092B-C50C-407E-A947-70E740481C1C}">
                <a14:useLocalDpi xmlns:a14="http://schemas.microsoft.com/office/drawing/2010/main" val="0"/>
              </a:ext>
            </a:extLst>
          </a:blip>
          <a:srcRect l="16468" r="9137" b="15359"/>
          <a:stretch>
            <a:fillRect/>
          </a:stretch>
        </p:blipFill>
        <p:spPr>
          <a:xfrm>
            <a:off x="632585" y="365939"/>
            <a:ext cx="5327879" cy="2868097"/>
          </a:xfrm>
          <a:prstGeom prst="rect">
            <a:avLst/>
          </a:prstGeom>
          <a:ln>
            <a:solidFill>
              <a:schemeClr val="tx1"/>
            </a:solidFill>
          </a:ln>
        </p:spPr>
      </p:pic>
      <p:sp>
        <p:nvSpPr>
          <p:cNvPr id="6" name="TextBox 5">
            <a:extLst>
              <a:ext uri="{FF2B5EF4-FFF2-40B4-BE49-F238E27FC236}">
                <a16:creationId xmlns:a16="http://schemas.microsoft.com/office/drawing/2014/main" id="{00BF7121-0DAE-F773-0C71-E44366DB8E4F}"/>
              </a:ext>
            </a:extLst>
          </p:cNvPr>
          <p:cNvSpPr txBox="1"/>
          <p:nvPr/>
        </p:nvSpPr>
        <p:spPr>
          <a:xfrm>
            <a:off x="6529366" y="867496"/>
            <a:ext cx="5662634" cy="1200329"/>
          </a:xfrm>
          <a:prstGeom prst="rect">
            <a:avLst/>
          </a:prstGeom>
          <a:noFill/>
        </p:spPr>
        <p:txBody>
          <a:bodyPr wrap="square">
            <a:spAutoFit/>
          </a:bodyPr>
          <a:lstStyle/>
          <a:p>
            <a:pPr marL="0" marR="0" lvl="0" indent="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a:t>
            </a:r>
          </a:p>
          <a:p>
            <a:pPr lvl="1"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Hosted in MongoDB Atlas</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Free cluster supports </a:t>
            </a:r>
            <a:r>
              <a:rPr lang="en-US" altLang="en-US" dirty="0" err="1">
                <a:latin typeface="Times New Roman" panose="02020603050405020304" pitchFamily="18" charset="0"/>
                <a:cs typeface="Times New Roman" panose="02020603050405020304" pitchFamily="18" charset="0"/>
              </a:rPr>
              <a:t>upto</a:t>
            </a:r>
            <a:r>
              <a:rPr lang="en-US" altLang="en-US" dirty="0">
                <a:latin typeface="Times New Roman" panose="02020603050405020304" pitchFamily="18" charset="0"/>
                <a:cs typeface="Times New Roman" panose="02020603050405020304" pitchFamily="18" charset="0"/>
              </a:rPr>
              <a:t> 512mb data.</a:t>
            </a:r>
          </a:p>
        </p:txBody>
      </p:sp>
      <p:sp>
        <p:nvSpPr>
          <p:cNvPr id="7" name="TextBox 6">
            <a:extLst>
              <a:ext uri="{FF2B5EF4-FFF2-40B4-BE49-F238E27FC236}">
                <a16:creationId xmlns:a16="http://schemas.microsoft.com/office/drawing/2014/main" id="{39B81B9E-E589-BD5B-FA3E-EF68F83C6F3B}"/>
              </a:ext>
            </a:extLst>
          </p:cNvPr>
          <p:cNvSpPr txBox="1"/>
          <p:nvPr/>
        </p:nvSpPr>
        <p:spPr>
          <a:xfrm>
            <a:off x="6721094" y="3959740"/>
            <a:ext cx="5662634" cy="1477328"/>
          </a:xfrm>
          <a:prstGeom prst="rect">
            <a:avLst/>
          </a:prstGeom>
          <a:noFill/>
        </p:spPr>
        <p:txBody>
          <a:bodyPr wrap="square">
            <a:spAutoFit/>
          </a:bodyPr>
          <a:lstStyle/>
          <a:p>
            <a:pPr marL="0" marR="0" lvl="0" indent="0" defTabSz="914400" rtl="0" eaLnBrk="0" fontAlgn="base" latinLnBrk="0" hangingPunct="0">
              <a:lnSpc>
                <a:spcPct val="100000"/>
              </a:lnSpc>
              <a:spcBef>
                <a:spcPct val="0"/>
              </a:spcBef>
              <a:spcAft>
                <a:spcPct val="0"/>
              </a:spcAft>
              <a:buClrTx/>
              <a:buSzTx/>
              <a:tabLst/>
            </a:pPr>
            <a:r>
              <a:rPr lang="en-US" altLang="en-US" b="1" dirty="0" err="1">
                <a:latin typeface="Times New Roman" panose="02020603050405020304" pitchFamily="18" charset="0"/>
                <a:cs typeface="Times New Roman" panose="02020603050405020304" pitchFamily="18" charset="0"/>
              </a:rPr>
              <a:t>TasteBot</a:t>
            </a: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Created a workflow in n8n.</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Uses Google Gemini chat model.</a:t>
            </a:r>
          </a:p>
          <a:p>
            <a:pPr marL="742950" lvl="1"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Responds through webhook.</a:t>
            </a:r>
          </a:p>
        </p:txBody>
      </p:sp>
    </p:spTree>
    <p:extLst>
      <p:ext uri="{BB962C8B-B14F-4D97-AF65-F5344CB8AC3E}">
        <p14:creationId xmlns:p14="http://schemas.microsoft.com/office/powerpoint/2010/main" val="2645542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72971-DBE2-E645-104D-273C884A11AA}"/>
            </a:ext>
          </a:extLst>
        </p:cNvPr>
        <p:cNvGrpSpPr/>
        <p:nvPr/>
      </p:nvGrpSpPr>
      <p:grpSpPr>
        <a:xfrm>
          <a:off x="0" y="0"/>
          <a:ext cx="0" cy="0"/>
          <a:chOff x="0" y="0"/>
          <a:chExt cx="0" cy="0"/>
        </a:xfrm>
      </p:grpSpPr>
      <p:cxnSp>
        <p:nvCxnSpPr>
          <p:cNvPr id="36" name="Straight Connector 35">
            <a:extLst>
              <a:ext uri="{FF2B5EF4-FFF2-40B4-BE49-F238E27FC236}">
                <a16:creationId xmlns:a16="http://schemas.microsoft.com/office/drawing/2014/main" id="{69FDA2DA-2338-0527-C78D-9EF979EDA7AD}"/>
              </a:ext>
            </a:extLst>
          </p:cNvPr>
          <p:cNvCxnSpPr>
            <a:cxnSpLocks/>
          </p:cNvCxnSpPr>
          <p:nvPr/>
        </p:nvCxnSpPr>
        <p:spPr>
          <a:xfrm>
            <a:off x="555526" y="918932"/>
            <a:ext cx="10785987" cy="0"/>
          </a:xfrm>
          <a:prstGeom prst="line">
            <a:avLst/>
          </a:prstGeom>
          <a:ln w="38100"/>
        </p:spPr>
        <p:style>
          <a:lnRef idx="3">
            <a:schemeClr val="dk1"/>
          </a:lnRef>
          <a:fillRef idx="0">
            <a:schemeClr val="dk1"/>
          </a:fillRef>
          <a:effectRef idx="2">
            <a:schemeClr val="dk1"/>
          </a:effectRef>
          <a:fontRef idx="minor">
            <a:schemeClr val="tx1"/>
          </a:fontRef>
        </p:style>
      </p:cxnSp>
      <p:sp>
        <p:nvSpPr>
          <p:cNvPr id="37" name="TextBox 36">
            <a:extLst>
              <a:ext uri="{FF2B5EF4-FFF2-40B4-BE49-F238E27FC236}">
                <a16:creationId xmlns:a16="http://schemas.microsoft.com/office/drawing/2014/main" id="{B13E8507-011A-2177-C4F1-CA473A04AEB1}"/>
              </a:ext>
            </a:extLst>
          </p:cNvPr>
          <p:cNvSpPr txBox="1"/>
          <p:nvPr/>
        </p:nvSpPr>
        <p:spPr>
          <a:xfrm>
            <a:off x="555526" y="392324"/>
            <a:ext cx="6096000" cy="461665"/>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Results</a:t>
            </a:r>
            <a:endParaRPr lang="en-IN" sz="2400" b="1" dirty="0">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376F9A9-8EE3-11C8-888B-3CEE9D2C1E73}"/>
              </a:ext>
            </a:extLst>
          </p:cNvPr>
          <p:cNvPicPr>
            <a:picLocks noChangeAspect="1"/>
          </p:cNvPicPr>
          <p:nvPr/>
        </p:nvPicPr>
        <p:blipFill>
          <a:blip r:embed="rId2"/>
          <a:stretch>
            <a:fillRect/>
          </a:stretch>
        </p:blipFill>
        <p:spPr>
          <a:xfrm>
            <a:off x="747251" y="1920363"/>
            <a:ext cx="7231076" cy="4067481"/>
          </a:xfrm>
          <a:prstGeom prst="roundRect">
            <a:avLst>
              <a:gd name="adj" fmla="val 2085"/>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9" name="Picture 8">
            <a:extLst>
              <a:ext uri="{FF2B5EF4-FFF2-40B4-BE49-F238E27FC236}">
                <a16:creationId xmlns:a16="http://schemas.microsoft.com/office/drawing/2014/main" id="{0B240C91-F987-6731-DD45-07D9DB3FBC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19914" y="1920363"/>
            <a:ext cx="1877584" cy="4068098"/>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10" name="TextBox 9">
            <a:extLst>
              <a:ext uri="{FF2B5EF4-FFF2-40B4-BE49-F238E27FC236}">
                <a16:creationId xmlns:a16="http://schemas.microsoft.com/office/drawing/2014/main" id="{793A45C7-C687-58A9-B015-7D9ABF12CABA}"/>
              </a:ext>
            </a:extLst>
          </p:cNvPr>
          <p:cNvSpPr txBox="1"/>
          <p:nvPr/>
        </p:nvSpPr>
        <p:spPr>
          <a:xfrm>
            <a:off x="747251" y="1234982"/>
            <a:ext cx="4022319"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User Dashboards (web and android)</a:t>
            </a:r>
          </a:p>
        </p:txBody>
      </p:sp>
      <p:sp>
        <p:nvSpPr>
          <p:cNvPr id="13" name="Flowchart: Delay 12">
            <a:extLst>
              <a:ext uri="{FF2B5EF4-FFF2-40B4-BE49-F238E27FC236}">
                <a16:creationId xmlns:a16="http://schemas.microsoft.com/office/drawing/2014/main" id="{8A1A3D68-C737-CA03-9333-E5984350E23D}"/>
              </a:ext>
            </a:extLst>
          </p:cNvPr>
          <p:cNvSpPr/>
          <p:nvPr/>
        </p:nvSpPr>
        <p:spPr>
          <a:xfrm rot="5446573">
            <a:off x="9722129" y="1899913"/>
            <a:ext cx="73152" cy="140329"/>
          </a:xfrm>
          <a:prstGeom prst="flowChartDelay">
            <a:avLst/>
          </a:prstGeom>
          <a:solidFill>
            <a:schemeClr val="bg2">
              <a:lumMod val="25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599283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9449B11-309E-758A-3432-F02F050BFF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88795" y="1086172"/>
            <a:ext cx="2398631" cy="5197033"/>
          </a:xfrm>
          <a:prstGeom prst="rect">
            <a:avLst/>
          </a:prstGeom>
          <a:ln w="76200">
            <a:solidFill>
              <a:schemeClr val="tx1"/>
            </a:solidFill>
          </a:ln>
        </p:spPr>
      </p:pic>
      <p:pic>
        <p:nvPicPr>
          <p:cNvPr id="14" name="Picture 13">
            <a:extLst>
              <a:ext uri="{FF2B5EF4-FFF2-40B4-BE49-F238E27FC236}">
                <a16:creationId xmlns:a16="http://schemas.microsoft.com/office/drawing/2014/main" id="{395E0D82-8686-795F-4944-FAE6B3D13042}"/>
              </a:ext>
            </a:extLst>
          </p:cNvPr>
          <p:cNvPicPr>
            <a:picLocks noChangeAspect="1"/>
          </p:cNvPicPr>
          <p:nvPr/>
        </p:nvPicPr>
        <p:blipFill>
          <a:blip r:embed="rId3"/>
          <a:stretch>
            <a:fillRect/>
          </a:stretch>
        </p:blipFill>
        <p:spPr>
          <a:xfrm>
            <a:off x="2022450" y="1572193"/>
            <a:ext cx="4154573" cy="4224989"/>
          </a:xfrm>
          <a:prstGeom prst="rect">
            <a:avLst/>
          </a:prstGeom>
          <a:ln>
            <a:solidFill>
              <a:schemeClr val="tx1"/>
            </a:solidFill>
          </a:ln>
        </p:spPr>
      </p:pic>
      <p:sp>
        <p:nvSpPr>
          <p:cNvPr id="15" name="TextBox 14">
            <a:extLst>
              <a:ext uri="{FF2B5EF4-FFF2-40B4-BE49-F238E27FC236}">
                <a16:creationId xmlns:a16="http://schemas.microsoft.com/office/drawing/2014/main" id="{C71A5F00-06DF-0B7A-5A49-0850F7968E1D}"/>
              </a:ext>
            </a:extLst>
          </p:cNvPr>
          <p:cNvSpPr txBox="1"/>
          <p:nvPr/>
        </p:nvSpPr>
        <p:spPr>
          <a:xfrm>
            <a:off x="747251" y="556552"/>
            <a:ext cx="4022319" cy="369332"/>
          </a:xfrm>
          <a:prstGeom prst="rect">
            <a:avLst/>
          </a:prstGeom>
          <a:noFill/>
        </p:spPr>
        <p:txBody>
          <a:bodyPr wrap="square" rtlCol="0">
            <a:spAutoFit/>
          </a:bodyPr>
          <a:lstStyle/>
          <a:p>
            <a:r>
              <a:rPr lang="en-IN" b="1" dirty="0" err="1">
                <a:latin typeface="Times New Roman" panose="02020603050405020304" pitchFamily="18" charset="0"/>
                <a:cs typeface="Times New Roman" panose="02020603050405020304" pitchFamily="18" charset="0"/>
              </a:rPr>
              <a:t>TasteBots</a:t>
            </a:r>
            <a:r>
              <a:rPr lang="en-IN" b="1" dirty="0">
                <a:latin typeface="Times New Roman" panose="02020603050405020304" pitchFamily="18" charset="0"/>
                <a:cs typeface="Times New Roman" panose="02020603050405020304" pitchFamily="18" charset="0"/>
              </a:rPr>
              <a:t> (web and android)</a:t>
            </a:r>
          </a:p>
        </p:txBody>
      </p:sp>
    </p:spTree>
    <p:extLst>
      <p:ext uri="{BB962C8B-B14F-4D97-AF65-F5344CB8AC3E}">
        <p14:creationId xmlns:p14="http://schemas.microsoft.com/office/powerpoint/2010/main" val="891804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705BA-F86F-AF95-ED0E-8A4EFCCB01B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5B3E5C5-1A6D-522D-F3B4-E61E51350AD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40896" y="1269360"/>
            <a:ext cx="8342939" cy="4692904"/>
          </a:xfrm>
          <a:prstGeom prst="roundRect">
            <a:avLst>
              <a:gd name="adj" fmla="val 2085"/>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3" name="TextBox 2">
            <a:extLst>
              <a:ext uri="{FF2B5EF4-FFF2-40B4-BE49-F238E27FC236}">
                <a16:creationId xmlns:a16="http://schemas.microsoft.com/office/drawing/2014/main" id="{A7816F79-CEEC-B728-DD13-3DBA2FC823F1}"/>
              </a:ext>
            </a:extLst>
          </p:cNvPr>
          <p:cNvSpPr txBox="1"/>
          <p:nvPr/>
        </p:nvSpPr>
        <p:spPr>
          <a:xfrm>
            <a:off x="747251" y="556552"/>
            <a:ext cx="4022319"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Restaurant Dashboard</a:t>
            </a:r>
          </a:p>
        </p:txBody>
      </p:sp>
    </p:spTree>
    <p:extLst>
      <p:ext uri="{BB962C8B-B14F-4D97-AF65-F5344CB8AC3E}">
        <p14:creationId xmlns:p14="http://schemas.microsoft.com/office/powerpoint/2010/main" val="35009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5EB3A-633B-9DE5-2D73-E953D5241C6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6D9A32C-A441-8427-5377-3A4972A2D35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40896" y="1249696"/>
            <a:ext cx="8342939" cy="4692904"/>
          </a:xfrm>
          <a:prstGeom prst="roundRect">
            <a:avLst>
              <a:gd name="adj" fmla="val 2085"/>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2" name="TextBox 1">
            <a:extLst>
              <a:ext uri="{FF2B5EF4-FFF2-40B4-BE49-F238E27FC236}">
                <a16:creationId xmlns:a16="http://schemas.microsoft.com/office/drawing/2014/main" id="{31752C34-995F-993E-56EE-43983DD29620}"/>
              </a:ext>
            </a:extLst>
          </p:cNvPr>
          <p:cNvSpPr txBox="1"/>
          <p:nvPr/>
        </p:nvSpPr>
        <p:spPr>
          <a:xfrm>
            <a:off x="747251" y="556552"/>
            <a:ext cx="4022319"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Admin Dashboard</a:t>
            </a:r>
          </a:p>
        </p:txBody>
      </p:sp>
    </p:spTree>
    <p:extLst>
      <p:ext uri="{BB962C8B-B14F-4D97-AF65-F5344CB8AC3E}">
        <p14:creationId xmlns:p14="http://schemas.microsoft.com/office/powerpoint/2010/main" val="3903944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C66A79-C37B-C11E-D85D-74392F8BFB17}"/>
              </a:ext>
            </a:extLst>
          </p:cNvPr>
          <p:cNvSpPr txBox="1"/>
          <p:nvPr/>
        </p:nvSpPr>
        <p:spPr>
          <a:xfrm>
            <a:off x="1407249" y="2274838"/>
            <a:ext cx="9082540" cy="2308324"/>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The Taste Hub platform demonstrates an end-to-end online food ordering system connecting users, restaurants, and administrators through a unified interface. It enables customers to browse restaurants, explore menus, add items to cart, and place orders seamlessly. Restaurants can efficiently manage products, view and process orders, improving service efficiency. The admin dashboard ensures platform-wide control by managing restaurants and promotions.  The integration of a chatbot assistant (Taste Bot) enhances user engagement by offering instant responses and suggestions. Overall, the project provides a scalable, user-friendly, and interactive food ordering solution, reflecting real-world application scenarios.</a:t>
            </a:r>
            <a:endParaRPr lang="en-IN"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E475C8AE-22BD-2956-762F-95335E8A5F41}"/>
              </a:ext>
            </a:extLst>
          </p:cNvPr>
          <p:cNvCxnSpPr>
            <a:cxnSpLocks/>
          </p:cNvCxnSpPr>
          <p:nvPr/>
        </p:nvCxnSpPr>
        <p:spPr>
          <a:xfrm>
            <a:off x="555526" y="1339096"/>
            <a:ext cx="10785987" cy="0"/>
          </a:xfrm>
          <a:prstGeom prst="line">
            <a:avLst/>
          </a:prstGeom>
          <a:ln w="38100"/>
        </p:spPr>
        <p:style>
          <a:lnRef idx="3">
            <a:schemeClr val="dk1"/>
          </a:lnRef>
          <a:fillRef idx="0">
            <a:schemeClr val="dk1"/>
          </a:fillRef>
          <a:effectRef idx="2">
            <a:schemeClr val="dk1"/>
          </a:effectRef>
          <a:fontRef idx="minor">
            <a:schemeClr val="tx1"/>
          </a:fontRef>
        </p:style>
      </p:cxnSp>
      <p:sp>
        <p:nvSpPr>
          <p:cNvPr id="6" name="TextBox 5">
            <a:extLst>
              <a:ext uri="{FF2B5EF4-FFF2-40B4-BE49-F238E27FC236}">
                <a16:creationId xmlns:a16="http://schemas.microsoft.com/office/drawing/2014/main" id="{BA3CBC3B-A7B3-2FF2-FFF3-080038AA8AF2}"/>
              </a:ext>
            </a:extLst>
          </p:cNvPr>
          <p:cNvSpPr txBox="1"/>
          <p:nvPr/>
        </p:nvSpPr>
        <p:spPr>
          <a:xfrm>
            <a:off x="555526" y="812488"/>
            <a:ext cx="6096000" cy="461665"/>
          </a:xfrm>
          <a:prstGeom prst="rect">
            <a:avLst/>
          </a:prstGeom>
          <a:noFill/>
        </p:spPr>
        <p:txBody>
          <a:bodyPr wrap="square">
            <a:spAutoFit/>
          </a:bodyPr>
          <a:lstStyle/>
          <a:p>
            <a:pPr>
              <a:buNone/>
            </a:pPr>
            <a:r>
              <a:rPr lang="en-IN" sz="2400" b="1" dirty="0">
                <a:effectLst/>
                <a:latin typeface="Times New Roman" panose="02020603050405020304" pitchFamily="18" charset="0"/>
                <a:cs typeface="Times New Roman" panose="02020603050405020304" pitchFamily="18" charset="0"/>
              </a:rPr>
              <a:t>Conclusion</a:t>
            </a:r>
            <a:endParaRPr lang="en-IN" sz="22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7588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7038A2-5C83-4569-CDD5-4325BEAABC69}"/>
              </a:ext>
            </a:extLst>
          </p:cNvPr>
          <p:cNvGrpSpPr/>
          <p:nvPr/>
        </p:nvGrpSpPr>
        <p:grpSpPr>
          <a:xfrm>
            <a:off x="1064870" y="2644170"/>
            <a:ext cx="10485232" cy="1569660"/>
            <a:chOff x="462987" y="2644170"/>
            <a:chExt cx="10485232" cy="1569660"/>
          </a:xfrm>
        </p:grpSpPr>
        <p:sp>
          <p:nvSpPr>
            <p:cNvPr id="3" name="TextBox 2">
              <a:extLst>
                <a:ext uri="{FF2B5EF4-FFF2-40B4-BE49-F238E27FC236}">
                  <a16:creationId xmlns:a16="http://schemas.microsoft.com/office/drawing/2014/main" id="{BC27AAA6-E48C-A644-A67E-167A06DFE5C1}"/>
                </a:ext>
              </a:extLst>
            </p:cNvPr>
            <p:cNvSpPr txBox="1"/>
            <p:nvPr/>
          </p:nvSpPr>
          <p:spPr>
            <a:xfrm>
              <a:off x="462987" y="2644170"/>
              <a:ext cx="10485232" cy="1569660"/>
            </a:xfrm>
            <a:prstGeom prst="rect">
              <a:avLst/>
            </a:prstGeom>
            <a:noFill/>
          </p:spPr>
          <p:txBody>
            <a:bodyPr wrap="square" rtlCol="0">
              <a:spAutoFit/>
            </a:bodyPr>
            <a:lstStyle/>
            <a:p>
              <a:pPr algn="ctr"/>
              <a:r>
                <a:rPr lang="en-IN" sz="96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YOU____</a:t>
              </a:r>
            </a:p>
          </p:txBody>
        </p:sp>
        <p:pic>
          <p:nvPicPr>
            <p:cNvPr id="4" name="Picture 3">
              <a:extLst>
                <a:ext uri="{FF2B5EF4-FFF2-40B4-BE49-F238E27FC236}">
                  <a16:creationId xmlns:a16="http://schemas.microsoft.com/office/drawing/2014/main" id="{971C2F81-3CF9-4585-EEF7-35A50FCD3DF7}"/>
                </a:ext>
              </a:extLst>
            </p:cNvPr>
            <p:cNvPicPr>
              <a:picLocks noChangeAspect="1"/>
            </p:cNvPicPr>
            <p:nvPr/>
          </p:nvPicPr>
          <p:blipFill>
            <a:blip r:embed="rId2">
              <a:extLst>
                <a:ext uri="{28A0092B-C50C-407E-A947-70E740481C1C}">
                  <a14:useLocalDpi xmlns:a14="http://schemas.microsoft.com/office/drawing/2010/main" val="0"/>
                </a:ext>
              </a:extLst>
            </a:blip>
            <a:srcRect t="81" b="81"/>
            <a:stretch/>
          </p:blipFill>
          <p:spPr>
            <a:xfrm>
              <a:off x="8744379" y="2723219"/>
              <a:ext cx="1603384" cy="1379992"/>
            </a:xfrm>
            <a:prstGeom prst="rect">
              <a:avLst/>
            </a:prstGeom>
          </p:spPr>
        </p:pic>
      </p:grpSp>
    </p:spTree>
    <p:extLst>
      <p:ext uri="{BB962C8B-B14F-4D97-AF65-F5344CB8AC3E}">
        <p14:creationId xmlns:p14="http://schemas.microsoft.com/office/powerpoint/2010/main" val="1726956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460</TotalTime>
  <Words>1043</Words>
  <Application>Microsoft Office PowerPoint</Application>
  <PresentationFormat>Widescreen</PresentationFormat>
  <Paragraphs>116</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Vakada Srinu</dc:creator>
  <cp:lastModifiedBy>Vakada Srinu</cp:lastModifiedBy>
  <cp:revision>7</cp:revision>
  <dcterms:created xsi:type="dcterms:W3CDTF">2025-10-21T10:20:33Z</dcterms:created>
  <dcterms:modified xsi:type="dcterms:W3CDTF">2025-12-06T05:14:48Z</dcterms:modified>
</cp:coreProperties>
</file>